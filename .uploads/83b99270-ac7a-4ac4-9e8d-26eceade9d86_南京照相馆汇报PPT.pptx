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【视频播放预案·主讲人专用】</a:t>
            </a:r>
          </a:p>
          <a:p>
            <a:r>
              <a:t>▶ 播放：本页讲完罗瑾/吴旋故事后，口头预告一句："我们用一段影像回到现场。"随即播放下方历史视频（约3分钟）。提前把链接在浏览器打开并暂停在片头（避免现场缓冲）；手机热点作网络备份。</a:t>
            </a:r>
          </a:p>
          <a:p>
            <a:r>
              <a:t>▶ 断网降级（讲稿·30秒）：1938年，日军进城前，罗瑾冒险加洗16张暴行照片装订成相册，封面画下滴血的心与日军刺刀；后辗转由青年吴旋在毗卢寺发现并冒死守护至战后。这16张底片成为南京大屠杀"京字第一号"证据，在审判中确证了日军暴行。照片无声，但有人用性命让它们开口。</a:t>
            </a:r>
          </a:p>
          <a:p>
            <a:r>
              <a:t>▶ 提醒：视频含历史影像资料，播放前口头提示一句。总视频时长全场控制在5分钟内。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0f3096a6ca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30" y="822960"/>
            <a:ext cx="3789260" cy="539496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40080" y="137160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5F2EA"/>
                </a:solidFill>
                <a:latin typeface="微软雅黑"/>
              </a:rPr>
              <a:t>《南京照相馆》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31B1B"/>
                </a:solidFill>
                <a:latin typeface="微软雅黑"/>
              </a:rPr>
              <a:t>一间暗房，一段不能褪色的真相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938A"/>
                </a:solidFill>
                <a:latin typeface="微软雅黑"/>
              </a:rPr>
              <a:t>—— 30 分钟电影汇报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导演：申奥 | 2025年7月25日上映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汇报人：___ | 日期：___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今天的汇报，是一次“显影”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8DFC8"/>
                </a:solidFill>
                <a:latin typeface="微软雅黑"/>
              </a:rPr>
              <a:t>开拍是 shoot，开枪也是 shoot。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E8DFC8"/>
                </a:solidFill>
                <a:latin typeface="微软雅黑"/>
              </a:rPr>
              <a:t>一颗子弹的旅行，从一张照片开始。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31B1B"/>
                </a:solidFill>
                <a:latin typeface="微软雅黑"/>
              </a:rPr>
              <a:t>① 曝光</a:t>
            </a:r>
          </a:p>
          <a:p>
            <a:r>
              <a:rPr sz="1300">
                <a:solidFill>
                  <a:srgbClr val="9A938A"/>
                </a:solidFill>
                <a:latin typeface="微软雅黑"/>
              </a:rPr>
              <a:t>约 8 分钟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8DFC8"/>
                </a:solidFill>
                <a:latin typeface="微软雅黑"/>
              </a:rPr>
              <a:t>历史底片从何而来</a:t>
            </a:r>
            <a:br/>
            <a:r>
              <a:rPr sz="1500">
                <a:solidFill>
                  <a:srgbClr val="E8DFC8"/>
                </a:solidFill>
                <a:latin typeface="微软雅黑"/>
              </a:rPr>
              <a:t>南京大屠杀与“京字第一号证据”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32918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31B1B"/>
                </a:solidFill>
                <a:latin typeface="微软雅黑"/>
              </a:rPr>
              <a:t>② 显影</a:t>
            </a:r>
          </a:p>
          <a:p>
            <a:r>
              <a:rPr sz="1300">
                <a:solidFill>
                  <a:srgbClr val="9A938A"/>
                </a:solidFill>
                <a:latin typeface="微软雅黑"/>
              </a:rPr>
              <a:t>约 15 分钟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8DFC8"/>
                </a:solidFill>
                <a:latin typeface="微软雅黑"/>
              </a:rPr>
              <a:t>电影如何让底片重新显影</a:t>
            </a:r>
            <a:br/>
            <a:r>
              <a:rPr sz="1500">
                <a:solidFill>
                  <a:srgbClr val="E8DFC8"/>
                </a:solidFill>
                <a:latin typeface="微软雅黑"/>
              </a:rPr>
              <a:t>叙事 · 人物 · 艺术手法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2918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31B1B"/>
                </a:solidFill>
                <a:latin typeface="微软雅黑"/>
              </a:rPr>
              <a:t>③ 定影</a:t>
            </a:r>
          </a:p>
          <a:p>
            <a:r>
              <a:rPr sz="1300">
                <a:solidFill>
                  <a:srgbClr val="9A938A"/>
                </a:solidFill>
                <a:latin typeface="微软雅黑"/>
              </a:rPr>
              <a:t>约 5 分钟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8DFC8"/>
                </a:solidFill>
                <a:latin typeface="微软雅黑"/>
              </a:rPr>
              <a:t>电影为这个时代“定”下了什么</a:t>
            </a:r>
            <a:br/>
            <a:r>
              <a:rPr sz="1500">
                <a:solidFill>
                  <a:srgbClr val="E8DFC8"/>
                </a:solidFill>
                <a:latin typeface="微软雅黑"/>
              </a:rPr>
              <a:t>口碑 · 奖项 · 记忆的传承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① 曝光 · 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1937·冬：被铁蹄踏破的南京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766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>
                <a:solidFill>
                  <a:srgbClr val="E8DFC8"/>
                </a:solidFill>
                <a:latin typeface="微软雅黑"/>
              </a:rPr>
              <a:t>1937年12月13日，南京陷落。侵华日军制造了持续六周以上的南京大屠杀，30万同胞遇难。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E8DFC8"/>
                </a:solidFill>
                <a:latin typeface="微软雅黑"/>
              </a:rPr>
              <a:t>日军一边施暴，一边拍照“留念”，还胁迫百姓拍摄“亲善照”制造伪证、粉饰太平。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E8DFC8"/>
                </a:solidFill>
                <a:latin typeface="微软雅黑"/>
              </a:rPr>
              <a:t>但施暴者自己拍下的照片，最终成为无法抵赖的铁证。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38A"/>
                </a:solidFill>
                <a:latin typeface="微软雅黑"/>
              </a:rPr>
              <a:t>信源：侵华日军南京大屠杀遇难同胞纪念馆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38A"/>
                </a:solidFill>
                <a:latin typeface="微软雅黑"/>
              </a:rPr>
              <a:t>中国第二历史档案馆</a:t>
            </a:r>
          </a:p>
        </p:txBody>
      </p:sp>
      <p:pic>
        <p:nvPicPr>
          <p:cNvPr id="8" name="Picture 7" descr="d692e0734c0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981200"/>
            <a:ext cx="3931920" cy="262128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72400" y="5257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38A"/>
                </a:solidFill>
                <a:latin typeface="微软雅黑"/>
              </a:rPr>
              <a:t>纪念馆前的悼念活动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① 曝光 · 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真实原型（一）：15岁学徒罗瑾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罗瑾，南京长江路估衣廊“华东照相馆”的学徒，时年15岁。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1938年1月，他在为日军军官冲洗胶卷时，冒着杀身之祸多加洗了一套照片——30多张日军屠杀、侮辱、抢劫中国平民的暴行实录。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他精选16张装订成册，封面画上两颗滴血的心、一把刺向心脏的匕首，和一个大大的“耻”字。其余底片全部销毁。</a:t>
            </a:r>
          </a:p>
        </p:txBody>
      </p:sp>
      <p:pic>
        <p:nvPicPr>
          <p:cNvPr id="7" name="Picture 6" descr="1ee984ff765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57990"/>
            <a:ext cx="4023359" cy="301634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680960" y="5715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38A"/>
                </a:solidFill>
                <a:latin typeface="微软雅黑"/>
              </a:rPr>
              <a:t>泛黄的历史照片（网络公开资料）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① 曝光 · 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真实原型（二）：一场八年的接力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罗瑾为避搜查，将相册藏进毗卢寺厕所的墙洞，后被迫逃离南京，隐居福建。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1941年，在毗卢寺参加培训的吴旋意外发现相册，将它藏进佛像底座，日夜守护，一守就是五年。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1946年，南京设军事法庭审判战犯。吴旋将相册呈交法庭——16张出自日军之手的照片，被编为“京字第一号证据”。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铁证面前，大屠杀主犯谷寿夫无法抵赖，1947年被判处死刑。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2015年，这组照片随“南京大屠杀档案”入选联合国教科文组织《世界记忆名录》。</a:t>
            </a:r>
          </a:p>
        </p:txBody>
      </p:sp>
      <p:pic>
        <p:nvPicPr>
          <p:cNvPr id="7" name="Picture 6" descr="6cef32457e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251710"/>
            <a:ext cx="4023360" cy="226314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680960" y="53949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38A"/>
                </a:solidFill>
                <a:latin typeface="微软雅黑"/>
              </a:rPr>
              <a:t>罗瑾、吴旋与“京字第一号证据”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① 曝光 · 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▍视频：电影背后的真实历史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DFC8"/>
                </a:solidFill>
                <a:latin typeface="微软雅黑"/>
              </a:rPr>
              <a:t>《南京照相馆》背后的真实历史（约3分钟）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938A"/>
                </a:solidFill>
                <a:latin typeface="微软雅黑"/>
              </a:rPr>
              <a:t>B站链接（现场播放或扫码备选）：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31B1B"/>
                </a:solidFill>
                <a:latin typeface="微软雅黑"/>
              </a:rPr>
              <a:t>BV1vy8ezLEgG（真实历史·约3min）
https://www.bilibili.com/video/BV1vy8ezLEgG/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/>
              <a:t>备用：守护者子女观影（吴旋女儿口述）</a:t>
            </a:r>
          </a:p>
          <a:p>
            <a:r>
              <a:rPr sz="1400"/>
              <a:t>BV1n3huzREVE（子女口述·情感彩蛋）</a:t>
            </a:r>
          </a:p>
          <a:p>
            <a:r>
              <a:rPr sz="1400"/>
              <a:t>https://www.bilibili.com/video/BV1n3huzREVE/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38A"/>
                </a:solidFill>
                <a:latin typeface="微软雅黑"/>
              </a:rPr>
              <a:t>（如现场不便播放，此页可跳过，口头讲述替代）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从真实到银幕：影片概况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导演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554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申奥（《孤注一掷》导演）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编剧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688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许渌洋、张珂、申奥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主演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3832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刘昊然、王传君、高叶、王骁领衔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周游特别出演，杨恩又、原岛大地主演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上映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976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2025年7月25日（中国人民抗日战争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暨世界反法西斯战争胜利80周年）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题材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212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取材于“京字第一号证据”真实事件</a:t>
            </a:r>
          </a:p>
        </p:txBody>
      </p:sp>
      <p:pic>
        <p:nvPicPr>
          <p:cNvPr id="16" name="Picture 15" descr="59e8b34b19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335" y="1371600"/>
            <a:ext cx="3569729" cy="475488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剧情：贡院街的吉祥照相馆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1937年寒冬，日军铁蹄踏破南京城门。七名普通百姓藏身于“吉祥照相馆”：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· 冒名求生的邮差 阿昌（刘昊然 饰）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· 被迫拍“亲善照”的演员 毓秀（高叶 饰）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· 自诩“救人”的翻译 王广海（王传君 饰）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为换取通行证苟活，他们被迫为日军冲洗胶卷，却在暗房的红灯下，冲印出“百人斩”合影、焚尸罪证……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“照片不能再洗了，洗了就是汉奸。”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E8DFC8"/>
                </a:solidFill>
                <a:latin typeface="微软雅黑"/>
              </a:rPr>
              <a:t>一群小人物，在日军眼皮底下做出了生死抉择：把罪证送出去。</a:t>
            </a:r>
          </a:p>
        </p:txBody>
      </p:sp>
      <p:pic>
        <p:nvPicPr>
          <p:cNvPr id="7" name="Picture 6" descr="ea009da81a7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444911"/>
            <a:ext cx="3840480" cy="2882577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人物群像：七个普通人的弧光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阿昌（刘昊然）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4630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邮差，冒名顶替求生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从“只想活命”到主动送出罪证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王广海（王传君）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6974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翻译官，游走灰色地带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复杂性最突出的角色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毓秀（高叶）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931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被迫拍“亲善照”的演员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以柔弱之躯完成复仇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1B1B"/>
                </a:solidFill>
                <a:latin typeface="微软雅黑"/>
              </a:rPr>
              <a:t>老板/学徒（王骁 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51663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照相馆的守护者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“站得笔直”的中国人骨气</a:t>
            </a:r>
          </a:p>
        </p:txBody>
      </p:sp>
      <p:pic>
        <p:nvPicPr>
          <p:cNvPr id="14" name="Picture 13" descr="c08765b41f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960" y="1371600"/>
            <a:ext cx="3352800" cy="502920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“刺刀下的全家福”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10</a:t>
            </a:r>
          </a:p>
        </p:txBody>
      </p:sp>
      <p:pic>
        <p:nvPicPr>
          <p:cNvPr id="6" name="Picture 5" descr="0bc17f3e33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8827"/>
            <a:ext cx="5394960" cy="3034665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pic>
        <p:nvPicPr>
          <p:cNvPr id="7" name="Picture 6" descr="f2cf3d8425c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085" y="1463040"/>
            <a:ext cx="3089510" cy="420624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" y="5760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日军胁迫百姓拍“亲善照”制造伪证，与片中被珍藏的“全家福”形成刺痛对比——孩子笑着拍完全家福，那可能是他们最后的合影。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暗房：全片的心脏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11</a:t>
            </a:r>
          </a:p>
        </p:txBody>
      </p:sp>
      <p:pic>
        <p:nvPicPr>
          <p:cNvPr id="6" name="Picture 5" descr="9cdc2eaa8a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99430"/>
            <a:ext cx="5394960" cy="2259139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pic>
        <p:nvPicPr>
          <p:cNvPr id="7" name="Picture 6" descr="57750367c0c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3102"/>
            <a:ext cx="5212080" cy="2931795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红灯亮起，罪证在显影液中一张张浮现——巨大的负罪感与恐惧笼罩暗房。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“洗，还是不洗”成为全片最锋利的道德悬念；暗房是电影的空间隐喻：真相，在黑暗中被亲手显影。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至暗时刻的人性微光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12</a:t>
            </a:r>
          </a:p>
        </p:txBody>
      </p:sp>
      <p:pic>
        <p:nvPicPr>
          <p:cNvPr id="6" name="Picture 5" descr="38b530b022f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55" y="1463040"/>
            <a:ext cx="3428330" cy="457200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pic>
        <p:nvPicPr>
          <p:cNvPr id="7" name="Picture 6" descr="da92825c87b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65452"/>
            <a:ext cx="3474720" cy="2167175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pic>
        <p:nvPicPr>
          <p:cNvPr id="8" name="Picture 7" descr="b7874f45a51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149036"/>
            <a:ext cx="3383280" cy="1200007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31520" y="6080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8DFC8"/>
                </a:solidFill>
                <a:latin typeface="微软雅黑"/>
              </a:rPr>
              <a:t>导演申奥：“揭露罪恶真相，展现人性光辉。”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艺术手法：三个关键词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B31B1B"/>
                </a:solidFill>
                <a:latin typeface="微软雅黑"/>
              </a:rPr>
              <a:t>▸ 冷色调影像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枯黄与蓝调的光影转换，残破的南京城近乎褪色，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却在暗房红灯中迸发出刺目的显影时刻。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B31B1B"/>
                </a:solidFill>
                <a:latin typeface="微软雅黑"/>
              </a:rPr>
              <a:t>▸ “亲善照”的荒诞对照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施暴者的摆拍 vs 受难者的真相，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伪证与罪证在同一张相纸上对撞。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B31B1B"/>
                </a:solidFill>
                <a:latin typeface="微软雅黑"/>
              </a:rPr>
              <a:t>▸ 以小见大的叙事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不拍宏大战场，只拍一间照相馆里的七天，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E8DFC8"/>
                </a:solidFill>
                <a:latin typeface="微软雅黑"/>
              </a:rPr>
              <a:t>让30万的数字重新变回一个个具体的人。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② 显影 · 电影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那些留在心里的台词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DFC8"/>
                </a:solidFill>
                <a:latin typeface="微软雅黑"/>
              </a:rPr>
              <a:t>“开枪是 shoot，拍照也是 shoot。”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DFC8"/>
                </a:solidFill>
                <a:latin typeface="微软雅黑"/>
              </a:rPr>
              <a:t>“照片不能再洗了，洗了就是汉奸。”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DFC8"/>
                </a:solidFill>
                <a:latin typeface="微软雅黑"/>
              </a:rPr>
              <a:t>“大好河山，寸土不让。”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DFC8"/>
                </a:solidFill>
                <a:latin typeface="微软雅黑"/>
              </a:rPr>
              <a:t>“照片可能褪色，但罪证不会封存。”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▶ 副视频位（可选播放）：BV1BRg3zrEjR（终极预告·2min05s）  |  备选：BV1r48ezoEVb（官方PV·58s）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③ 定影 · 回响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票房与口碑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最终票房约 30 亿人民币，位列年度国产片前列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豆瓣评分 8.6，观众好评集中于“克制而有力”“小人物叙事”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路演现场：一排演员在喊“咔”之后沉默不语（王传君回忆）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一位带孩子观影的家长：家长有义务带孩子看这样的电影，让他们铭记历史</a:t>
            </a:r>
          </a:p>
        </p:txBody>
      </p:sp>
      <p:pic>
        <p:nvPicPr>
          <p:cNvPr id="7" name="Picture 6" descr="1fbaaa2e0e8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352" y="1554480"/>
            <a:ext cx="2314575" cy="411480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③ 定影 · 回响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金鸡奖 7 项提名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2026年，影片获第39届中国电影金鸡奖 7 项提名：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最佳故事片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最佳导演（申奥）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最佳女主角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最佳男配角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· ……（颁奖礼：2026年11月10日）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E8DFC8"/>
                </a:solidFill>
                <a:latin typeface="微软雅黑"/>
              </a:rPr>
              <a:t>一部“命题创作”的电影，最终靠人物与真诚赢得了行业的全面认可。</a:t>
            </a:r>
          </a:p>
        </p:txBody>
      </p:sp>
      <p:pic>
        <p:nvPicPr>
          <p:cNvPr id="7" name="Picture 6" descr="81a34ffc7b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291840" cy="4937760"/>
          </a:xfrm>
          <a:prstGeom prst="rect">
            <a:avLst/>
          </a:prstGeom>
          <a:ln w="25400">
            <a:solidFill>
              <a:srgbClr val="B31B1B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5F2EA"/>
                </a:solidFill>
                <a:latin typeface="微软雅黑"/>
              </a:rPr>
              <a:t>两个少年，一座城，八年接力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E8DFC8"/>
                </a:solidFill>
                <a:latin typeface="微软雅黑"/>
              </a:rPr>
              <a:t>罗瑾加洗照片时15岁，吴旋藏起相册时14岁。</a:t>
            </a:r>
          </a:p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E8DFC8"/>
                </a:solidFill>
                <a:latin typeface="微软雅黑"/>
              </a:rPr>
              <a:t>所谓历史的守护者，从来都是普通人。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③ 定影 · 回响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2EA"/>
                </a:solidFill>
                <a:latin typeface="微软雅黑"/>
              </a:rPr>
              <a:t>留给我们的问题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1">
                <a:solidFill>
                  <a:srgbClr val="E8DFC8"/>
                </a:solidFill>
                <a:latin typeface="微软雅黑"/>
              </a:rPr>
              <a:t>在人人都有摄像头的今天，</a:t>
            </a:r>
          </a:p>
          <a:p>
            <a:pPr algn="l">
              <a:lnSpc>
                <a:spcPct val="140000"/>
              </a:lnSpc>
            </a:pPr>
            <a:r>
              <a:rPr sz="3000" b="1">
                <a:solidFill>
                  <a:srgbClr val="E8DFC8"/>
                </a:solidFill>
                <a:latin typeface="微软雅黑"/>
              </a:rPr>
              <a:t>“用影像守护真相”对我们意味着什么？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938A"/>
                </a:solidFill>
                <a:latin typeface="微软雅黑"/>
              </a:rPr>
              <a:t>1937年，冲洗一张照片可能付出生命；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938A"/>
                </a:solidFill>
                <a:latin typeface="微软雅黑"/>
              </a:rPr>
              <a:t>今天，记录与转发只需一秒——但选择“看见”并记住，依然需要勇气。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4800" b="1">
                <a:solidFill>
                  <a:srgbClr val="F5F2EA"/>
                </a:solidFill>
                <a:latin typeface="微软雅黑"/>
              </a:rPr>
              <a:t>照片会褪色</a:t>
            </a:r>
          </a:p>
          <a:p>
            <a:pPr algn="ctr">
              <a:lnSpc>
                <a:spcPct val="130000"/>
              </a:lnSpc>
            </a:pPr>
            <a:r>
              <a:rPr sz="4800" b="1">
                <a:solidFill>
                  <a:srgbClr val="F5F2EA"/>
                </a:solidFill>
                <a:latin typeface="微软雅黑"/>
              </a:rPr>
              <a:t>真相不会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B31B1B"/>
                </a:solidFill>
                <a:latin typeface="微软雅黑"/>
              </a:rPr>
              <a:t>谢谢观看 | 欢迎提问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1B1B"/>
                </a:solidFill>
                <a:latin typeface="微软雅黑"/>
              </a:rPr>
              <a:t>■ 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/>
              <a:t>B站视频链接汇总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938A"/>
                </a:solidFill>
                <a:latin typeface="微软雅黑"/>
              </a:rPr>
              <a:t>图片来源：网络公开资料，仅用于学习交流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38A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DFC8"/>
                </a:solidFill>
                <a:latin typeface="微软雅黑"/>
              </a:rPr>
              <a:t>1. 《南京照相馆》背后的真实历史｜真实历史 · 约3分钟（推荐现场播放）</a:t>
            </a:r>
          </a:p>
          <a:p>
            <a:r>
              <a:rPr sz="1400">
                <a:solidFill>
                  <a:srgbClr val="E8DFC8"/>
                </a:solidFill>
                <a:latin typeface="微软雅黑"/>
              </a:rPr>
              <a:t>   https://www.bilibili.com/video/BV1vy8ezLEgG/</a:t>
            </a:r>
          </a:p>
          <a:p>
            <a:r>
              <a:rPr sz="1600" b="1">
                <a:solidFill>
                  <a:srgbClr val="E8DFC8"/>
                </a:solidFill>
                <a:latin typeface="微软雅黑"/>
              </a:rPr>
              <a:t>2. “京字第一号罪证”守护者子女观影（吴旋女儿口述）｜情感冲击最强</a:t>
            </a:r>
          </a:p>
          <a:p>
            <a:r>
              <a:rPr sz="1400">
                <a:solidFill>
                  <a:srgbClr val="E8DFC8"/>
                </a:solidFill>
                <a:latin typeface="微软雅黑"/>
              </a:rPr>
              <a:t>   https://www.bilibili.com/video/BV1n3huzREVE/</a:t>
            </a:r>
          </a:p>
          <a:p>
            <a:r>
              <a:rPr sz="1600" b="1">
                <a:solidFill>
                  <a:srgbClr val="E8DFC8"/>
                </a:solidFill>
                <a:latin typeface="微软雅黑"/>
              </a:rPr>
              <a:t>3. 电影终极预告片｜2分05秒</a:t>
            </a:r>
          </a:p>
          <a:p>
            <a:r>
              <a:rPr sz="1400">
                <a:solidFill>
                  <a:srgbClr val="E8DFC8"/>
                </a:solidFill>
                <a:latin typeface="微软雅黑"/>
              </a:rPr>
              <a:t>   https://www.bilibili.com/video/BV1BRg3zrEjR/</a:t>
            </a:r>
          </a:p>
          <a:p>
            <a:r>
              <a:rPr sz="1600" b="1">
                <a:solidFill>
                  <a:srgbClr val="E8DFC8"/>
                </a:solidFill>
                <a:latin typeface="微软雅黑"/>
              </a:rPr>
              <a:t>4. 官方PV「照片会褪色，真相不会」｜58秒 · 官方正版页</a:t>
            </a:r>
          </a:p>
          <a:p>
            <a:r>
              <a:rPr sz="1400">
                <a:solidFill>
                  <a:srgbClr val="E8DFC8"/>
                </a:solidFill>
                <a:latin typeface="微软雅黑"/>
              </a:rPr>
              <a:t>   https://www.bilibili.com/video/BV1r48ezoEVb/</a:t>
            </a:r>
          </a:p>
          <a:p>
            <a:r>
              <a:rPr sz="1200">
                <a:solidFill>
                  <a:srgbClr val="E8DFC8"/>
                </a:solidFill>
                <a:latin typeface="微软雅黑"/>
              </a:rPr>
              <a:t>（提示：现场一律播本地缓存；链接若失效，可在B站搜索“南京照相馆”）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