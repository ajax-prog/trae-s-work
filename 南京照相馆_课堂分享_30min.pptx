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【00:00–00:30】开场。自我介绍一句话，然后直接进入：今天不讲宏大历史，只讲一间很小的照相馆，和一卷底片。</a:t>
            </a:r>
          </a:p>
          <a:p>
            <a:r>
              <a:t>提示：封面配图为 AI 生成示意图，非影片剧照，开场时口头说明一次即可。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【00:30–01:10】四个部分：故事、史实、影像、讨论。说明节奏——前面快，后面留问题给大家。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【01:10–02:50】抛出问题，停 20 秒，请 1–2 位同学回答。回应后点题：一张照片能证明什么、能留下什么，正是整部影片的起点。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【02:50–04:20】快速过档案：三件事最重要——137 分钟、30 亿票房、豆瓣 8.6；奖项一句话带过，说明它是 2025 年暑期档的现象级作品。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【04:20–06:20】复述故事线：躲—洗—送。强调它不是战争大片，而是一个封闭空间里的选择故事。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【06:20–08:10】人物逐个一句话。重点停在阿昌（视角人物）和老金（相馆主人）；王广海先标记，后面单独一页展开。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【08:10】过渡：故事是虚构的，但底下压着一本真实的相册。接下来讲史实，语气会放慢。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【08:10–09:40】语气放慢。三个数字不要念得太快；点出「30 万」是纪念馆的表述。再落到创作原则：不靠血腥，靠证据。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【09:40–11:20】罗瑾的故事，重音在「15 岁」和「16 张」。解释封面：两颗心、一把刀、一个「耻」字——一个少年能做的最大反抗，是把证据留下来。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【11:20–12:50】沿时间轴讲：制作—守护—呈交—审判—重逢。1995 年重逢是情感落点，可以稍停。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【12:50–14:20】解释为什么把两个少年合成一个主角：电影需要一张脸、一个视角。强调「合并」不等于「篡改」。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【14:20–16:20】播放前说明：以下为影片公开预告物料，画面版权归片方所有，课堂引用仅作分析。</a:t>
            </a:r>
          </a:p>
          <a:p>
            <a:r>
              <a:t>视频已内嵌：点击画面即可播放（1 分 34 秒）。</a:t>
            </a:r>
          </a:p>
          <a:p/>
          <a:p>
            <a:r>
              <a:t>若需更换：右键画面 → 更改媒体 → 选择新的 mp4（建议 H.264 编码，HEVC 在部分 PowerPoint 上无法播放）。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【16:20】过渡：史实讲完，回到电影本身——它是怎么把这些「显影」出来的。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【16:20–17:50】提出核心观察：最暖的光来自最残酷的房间——暗房。这是影片的视觉隐喻：显影，就是把黑暗里的东西拿出来。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【17:50–19:10】这是全片情绪转折点：手绘「洋片」背景布（当时照相馆的常见道具）一展开，颜色突然饱和，故宫、西湖、长城的红与绿冲出来。此处可停两秒让大家看色块。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【19:10–20:20】方言是可考的创作选择，引导演原话；静默与环境声属于观影分析，说明这是我自己的观察。提醒：不要把所有解读都当成导演原意。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【20:20–21:40】全片核心论点。三问依次讲：拍摄者、冲洗者、观看者。顺带说明：这也是片名的意义——照相馆不是背景，是战场。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【21:40–22:40】王广海是反面参照。不要把他讲成简单的坏人——他的可怕在于「很合理」。顺势把问题抛给听众，为最后讨论做铺垫。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【22:40–23:40】讲克制：不展示、不煽动、不消费。同时主动提出争议——「不够狠」的评价真实存在，这页不站队，留给讨论。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【23:40–24:30】数据快速过。重点不是数字，而是「严肃题材进入大众档期」这件事。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【24:30–25:20】这页是全片落点：电影把对照交给了现实。可以问一句：你走出影院时，看到的是什么？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【25:20–26:40】制作特辑已内嵌（3 分 47 秒），建议只播放前 1 分钟（置景与实景还原），讲完「真实感不是特效，是有人真的把街道造了出来」后切页。</a:t>
            </a:r>
          </a:p>
          <a:p/>
          <a:p>
            <a:r>
              <a:t>若要精确截断：选中视频 → 播放 → 修剪视频，把结束点拖到 1:00；或直接用剪映/ffmpeg 导出 1 分钟版本后替换。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【26:40】过渡：最后一部分不讲结论，留三个问题给大家。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【26:40–28:10】留 30–60 秒同桌交流，然后请 2 位同学分享。第二个问题可结合 AI 生成图片展开，呼应本次分享里「示意图」的处理。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【28:10–28:50】收束情绪，语速放慢。不要喊口号，停在「记忆需要有人冲洗」这句。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【28:50–29:10】不逐条念。口头说明：数据与史实均来自公开报道与纪念馆资料，配图是 AI 示意图，视频为 B 站第三方上传、版权归片方。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【29:10–30:00】收尾：留 1–2 个问题的时间。若时间不够，直接进入互动，把资料页留给会后。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Relationship Id="rId4" Type="http://schemas.microsoft.com/office/2007/relationships/media" Target="../media/media2.mp4"/><Relationship Id="rId5" Type="http://schemas.openxmlformats.org/officeDocument/2006/relationships/video" Target="../media/media2.mp4"/><Relationship Id="rId6" Type="http://schemas.openxmlformats.org/officeDocument/2006/relationships/image" Target="../media/image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818120" cy="6858000"/>
          </a:xfrm>
          <a:prstGeom prst="rect">
            <a:avLst/>
          </a:prstGeom>
          <a:solidFill>
            <a:srgbClr val="0C0B09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13548" y="0"/>
            <a:ext cx="18288" cy="6858000"/>
          </a:xfrm>
          <a:prstGeom prst="rect">
            <a:avLst/>
          </a:prstGeom>
          <a:solidFill>
            <a:srgbClr val="6E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7043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220">
                <a:solidFill>
                  <a:srgbClr val="C8A264"/>
                </a:solidFill>
                <a:latin typeface="Noto Sans CJK SC"/>
                <a:ea typeface="Noto Sans CJK SC"/>
              </a:rPr>
              <a:t>影片分析 · 课堂分享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72768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0" i="0">
                <a:solidFill>
                  <a:srgbClr val="EEE8DC"/>
                </a:solidFill>
                <a:latin typeface="Noto Serif CJK SC"/>
                <a:ea typeface="Noto Serif CJK SC"/>
              </a:rPr>
              <a:t>南京照相馆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788920"/>
            <a:ext cx="1051560" cy="27432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99232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9C2B4"/>
                </a:solidFill>
                <a:latin typeface="Noto Serif CJK SC"/>
                <a:ea typeface="Noto Serif CJK SC"/>
              </a:rPr>
              <a:t>一间相馆，一卷底片，一座城的记忆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03320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Dead To Rights ｜ 申奥 执导 ｜ 2025 ｜ 137 分钟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687568"/>
            <a:ext cx="292608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8155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汇报人：＿＿＿＿　　　2026 年 10 月</a:t>
            </a:r>
          </a:p>
        </p:txBody>
      </p:sp>
      <p:sp>
        <p:nvSpPr>
          <p:cNvPr id="13" name="AILabel"/>
          <p:cNvSpPr txBox="1"/>
          <p:nvPr/>
        </p:nvSpPr>
        <p:spPr>
          <a:xfrm>
            <a:off x="9611695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  <p:sp>
        <p:nvSpPr>
          <p:cNvPr id="14" name="AILabel"/>
          <p:cNvSpPr txBox="1"/>
          <p:nvPr/>
        </p:nvSpPr>
        <p:spPr>
          <a:xfrm>
            <a:off x="9611695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今天聊四个词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0253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 i="0">
                <a:solidFill>
                  <a:srgbClr val="C8A264"/>
                </a:solidFill>
                <a:latin typeface="Noto Serif CJK SC"/>
                <a:ea typeface="Noto Serif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965960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一间相馆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0487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9C958A"/>
                </a:solidFill>
                <a:latin typeface="Noto Sans CJK SC"/>
                <a:ea typeface="Noto Sans CJK SC"/>
              </a:rPr>
              <a:t>七个普通人，一百三十七分钟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26080"/>
            <a:ext cx="7498079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99815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 i="0">
                <a:solidFill>
                  <a:srgbClr val="C8A264"/>
                </a:solidFill>
                <a:latin typeface="Noto Serif CJK SC"/>
                <a:ea typeface="Noto Serif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063239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一段史实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502151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9C958A"/>
                </a:solidFill>
                <a:latin typeface="Noto Sans CJK SC"/>
                <a:ea typeface="Noto Sans CJK SC"/>
              </a:rPr>
              <a:t>1937 年冬天，和一本真实的相册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023359"/>
            <a:ext cx="7498079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9709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 i="0">
                <a:solidFill>
                  <a:srgbClr val="C8A264"/>
                </a:solidFill>
                <a:latin typeface="Noto Serif CJK SC"/>
                <a:ea typeface="Noto Serif CJK S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160520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一次显影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599431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9C958A"/>
                </a:solidFill>
                <a:latin typeface="Noto Sans CJK SC"/>
                <a:ea typeface="Noto Sans CJK SC"/>
              </a:rPr>
              <a:t>冷色、红光、一卷手绘山河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120640"/>
            <a:ext cx="7498079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29437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 i="0">
                <a:solidFill>
                  <a:srgbClr val="C8A264"/>
                </a:solidFill>
                <a:latin typeface="Noto Serif CJK SC"/>
                <a:ea typeface="Noto Serif CJK S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257800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一场对话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69671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9C958A"/>
                </a:solidFill>
                <a:latin typeface="Noto Sans CJK SC"/>
                <a:ea typeface="Noto Sans CJK SC"/>
              </a:rPr>
              <a:t>票房、争议，和三个留给大家的问题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6217920"/>
            <a:ext cx="7498079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32520" y="1965960"/>
            <a:ext cx="18288" cy="2834640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8280" y="19933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40">
                <a:solidFill>
                  <a:srgbClr val="C8A264"/>
                </a:solidFill>
                <a:latin typeface="Noto Sans CJK SC"/>
                <a:ea typeface="Noto Sans CJK SC"/>
              </a:rPr>
              <a:t>本次分享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331720"/>
            <a:ext cx="23774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约 30 分钟</a:t>
            </a:r>
          </a:p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27 页</a:t>
            </a:r>
          </a:p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2 段视频</a:t>
            </a:r>
          </a:p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3 个讨论问题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CONTENTS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141732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0" b="0" i="0">
                <a:solidFill>
                  <a:srgbClr val="6E5C39"/>
                </a:solidFill>
                <a:latin typeface="Noto Serif CJK SC"/>
                <a:ea typeface="Noto Serif CJK SC"/>
              </a:rPr>
              <a:t>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859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200">
                <a:solidFill>
                  <a:srgbClr val="C8A264"/>
                </a:solidFill>
                <a:latin typeface="Noto Sans CJK SC"/>
                <a:ea typeface="Noto Sans CJK SC"/>
              </a:rPr>
              <a:t>开场提问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9966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000" b="0" i="0">
                <a:solidFill>
                  <a:srgbClr val="EEE8DC"/>
                </a:solidFill>
                <a:latin typeface="Noto Serif CJK SC"/>
                <a:ea typeface="Noto Serif CJK SC"/>
              </a:rPr>
              <a:t>如果只能带走一张照片，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000" b="0" i="0">
                <a:solidFill>
                  <a:srgbClr val="EEE8DC"/>
                </a:solidFill>
                <a:latin typeface="Noto Serif CJK SC"/>
                <a:ea typeface="Noto Serif CJK SC"/>
              </a:rPr>
              <a:t>你会带走哪一张？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52628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75488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9C2B4"/>
                </a:solidFill>
                <a:latin typeface="Noto Sans CJK SC"/>
                <a:ea typeface="Noto Sans CJK SC"/>
              </a:rPr>
              <a:t>这是影片替我们问出的问题——也是我想先问大家的问题。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先给 30 秒，请两位同学回答；不急着给结论。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01 · 一间相馆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影片档案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片名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9110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《南京照相馆》／又名《吉祥照相馆》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49424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4086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导演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3134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申奥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51760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编剧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1576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许渌洋、张珂、申奥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054096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4553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领衔主演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18104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刘昊然、王传君、高叶、王骁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456432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478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类型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52044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剧情 / 历史 / 战争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858768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502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片长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92277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137 分钟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261104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5254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上映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32511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2025 年 7 月 25 日（中国大陆）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63440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754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票房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472744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30 亿元以上（截至 2025 年 9 月）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065776"/>
            <a:ext cx="617220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52360" y="1938528"/>
            <a:ext cx="3977639" cy="2880360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52360" y="1938528"/>
            <a:ext cx="27432" cy="28803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18120" y="21762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C8A264"/>
                </a:solidFill>
                <a:latin typeface="Noto Sans CJK SC"/>
                <a:ea typeface="Noto Sans CJK SC"/>
              </a:rPr>
              <a:t>第 20 届 长春电影节 · 金鹿奖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2487168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0" i="0">
                <a:solidFill>
                  <a:srgbClr val="EEE8DC"/>
                </a:solidFill>
                <a:latin typeface="Noto Serif CJK SC"/>
                <a:ea typeface="Noto Serif CJK SC"/>
              </a:rPr>
              <a:t>最佳影片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0" i="0">
                <a:solidFill>
                  <a:srgbClr val="EEE8DC"/>
                </a:solidFill>
                <a:latin typeface="Noto Serif CJK SC"/>
                <a:ea typeface="Noto Serif CJK SC"/>
              </a:rPr>
              <a:t>最佳导演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0" i="0">
                <a:solidFill>
                  <a:srgbClr val="EEE8DC"/>
                </a:solidFill>
                <a:latin typeface="Noto Serif CJK SC"/>
                <a:ea typeface="Noto Serif CJK SC"/>
              </a:rPr>
              <a:t>最佳编剧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3822191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2025.08.28 ｜ 豆瓣 8.6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4406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9C958A"/>
                </a:solidFill>
                <a:latin typeface="Noto Sans CJK SC"/>
                <a:ea typeface="Noto Sans CJK SC"/>
              </a:rPr>
              <a:t>数据来源：猫眼电影、豆瓣电影、1905 电影网及媒体报道，截至 2025 年 9 月。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01 · 一间相馆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01 · 一间相馆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一句话，和三幕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515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100" b="0" i="0">
                <a:solidFill>
                  <a:srgbClr val="EEE8DC"/>
                </a:solidFill>
                <a:latin typeface="Noto Serif CJK SC"/>
                <a:ea typeface="Noto Serif CJK SC"/>
              </a:rPr>
              <a:t>1937 年冬，七个躲进吉祥照相馆的普通人，被迫替日军冲洗底片——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100" b="0" i="0">
                <a:solidFill>
                  <a:srgbClr val="EEE8DC"/>
                </a:solidFill>
                <a:latin typeface="Noto Serif CJK SC"/>
                <a:ea typeface="Noto Serif CJK SC"/>
              </a:rPr>
              <a:t>却冲出了屠城的证据。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520440"/>
            <a:ext cx="32461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63931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8A264"/>
                </a:solidFill>
                <a:latin typeface="Noto Serif CJK SC"/>
                <a:ea typeface="Noto Serif CJK SC"/>
              </a:rPr>
              <a:t>第一幕 · 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69080"/>
            <a:ext cx="30358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相馆成为孤岛：七个人，只有两张通行证。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233672" y="3520440"/>
            <a:ext cx="32461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33672" y="363931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8A264"/>
                </a:solidFill>
                <a:latin typeface="Noto Serif CJK SC"/>
                <a:ea typeface="Noto Serif CJK SC"/>
              </a:rPr>
              <a:t>第二幕 · 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4069080"/>
            <a:ext cx="30358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在日军眼皮底下，把罪证一张张显影。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90104" y="3520440"/>
            <a:ext cx="32461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90104" y="363931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8A264"/>
                </a:solidFill>
                <a:latin typeface="Noto Serif CJK SC"/>
                <a:ea typeface="Noto Serif CJK SC"/>
              </a:rPr>
              <a:t>第三幕 · 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0104" y="4069080"/>
            <a:ext cx="30358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用命把底片送出城，让它站上法庭。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06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9C958A"/>
                </a:solidFill>
                <a:latin typeface="Noto Sans CJK SC"/>
                <a:ea typeface="Noto Sans CJK SC"/>
              </a:rPr>
              <a:t>「七人两证」是这部电影的戏剧核心：活下去，和留下证据，只能选一个。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01 · 一间相馆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01 · 一间相馆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谁在这间相馆里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38528"/>
            <a:ext cx="3246120" cy="1700784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38528"/>
            <a:ext cx="3246120" cy="18288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031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915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EEE8DC"/>
                </a:solidFill>
                <a:latin typeface="Noto Serif CJK SC"/>
                <a:ea typeface="Noto Serif CJK SC"/>
              </a:rPr>
              <a:t>苏柳昌（阿昌）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74320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60">
                <a:solidFill>
                  <a:srgbClr val="C8A264"/>
                </a:solidFill>
                <a:latin typeface="Noto Sans CJK SC"/>
                <a:ea typeface="Noto Sans CJK SC"/>
              </a:rPr>
              <a:t>邮差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35808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只想活命，却被卷进真相。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2" y="1938528"/>
            <a:ext cx="3246120" cy="1700784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938528"/>
            <a:ext cx="3246120" cy="18288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031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EEE8DC"/>
                </a:solidFill>
                <a:latin typeface="Noto Serif CJK SC"/>
                <a:ea typeface="Noto Serif CJK SC"/>
              </a:rPr>
              <a:t>林毓秀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4320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60">
                <a:solidFill>
                  <a:srgbClr val="C8A264"/>
                </a:solidFill>
                <a:latin typeface="Noto Sans CJK SC"/>
                <a:ea typeface="Noto Sans CJK SC"/>
              </a:rPr>
              <a:t>演员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035808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从摇摆不定，到挺身而出。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64424" y="1938528"/>
            <a:ext cx="3246120" cy="1700784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1938528"/>
            <a:ext cx="3246120" cy="18288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21031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235915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EEE8DC"/>
                </a:solidFill>
                <a:latin typeface="Noto Serif CJK SC"/>
                <a:ea typeface="Noto Serif CJK SC"/>
              </a:rPr>
              <a:t>金承宗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74320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60">
                <a:solidFill>
                  <a:srgbClr val="C8A264"/>
                </a:solidFill>
                <a:latin typeface="Noto Sans CJK SC"/>
                <a:ea typeface="Noto Sans CJK SC"/>
              </a:rPr>
              <a:t>照相馆老板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3035808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一家人的主心骨，也是相馆的主人。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858768"/>
            <a:ext cx="3246120" cy="1700784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858768"/>
            <a:ext cx="3246120" cy="18288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0233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27939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EEE8DC"/>
                </a:solidFill>
                <a:latin typeface="Noto Serif CJK SC"/>
                <a:ea typeface="Noto Serif CJK SC"/>
              </a:rPr>
              <a:t>赵宜芳 · 金婉仪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66344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60">
                <a:solidFill>
                  <a:srgbClr val="C8A264"/>
                </a:solidFill>
                <a:latin typeface="Noto Sans CJK SC"/>
                <a:ea typeface="Noto Sans CJK SC"/>
              </a:rPr>
              <a:t>妻女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4956048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地下室里的另一半人质与生机。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3858768"/>
            <a:ext cx="3246120" cy="1700784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70832" y="3858768"/>
            <a:ext cx="3246120" cy="18288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0233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27939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EEE8DC"/>
                </a:solidFill>
                <a:latin typeface="Noto Serif CJK SC"/>
                <a:ea typeface="Noto Serif CJK SC"/>
              </a:rPr>
              <a:t>王广海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66344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60">
                <a:solidFill>
                  <a:srgbClr val="C8A264"/>
                </a:solidFill>
                <a:latin typeface="Noto Sans CJK SC"/>
                <a:ea typeface="Noto Sans CJK SC"/>
              </a:rPr>
              <a:t>日语翻译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4956048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投机者的镜像——本页先记住他。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64424" y="3858768"/>
            <a:ext cx="3246120" cy="1700784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64424" y="3858768"/>
            <a:ext cx="3246120" cy="18288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65592" y="40233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65592" y="427939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EEE8DC"/>
                </a:solidFill>
                <a:latin typeface="Noto Serif CJK SC"/>
                <a:ea typeface="Noto Serif CJK SC"/>
              </a:rPr>
              <a:t>七个人，两张通行证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65592" y="466344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60">
                <a:solidFill>
                  <a:srgbClr val="C8A264"/>
                </a:solidFill>
                <a:latin typeface="Noto Sans CJK SC"/>
                <a:ea typeface="Noto Sans CJK SC"/>
              </a:rPr>
              <a:t>群像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65592" y="4956048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影片真正的主角，是「普通人」。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01 · 一间相馆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529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5564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1635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46703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7705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3775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6811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9846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2881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916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1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5022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057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10928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7163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30198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3233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459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2529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5564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1635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46703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7705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0740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93775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6811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9846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2881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5916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8951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19871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5022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8057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10928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24128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7163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30198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83233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1188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200" b="0" i="0">
                <a:solidFill>
                  <a:srgbClr val="6E5C39"/>
                </a:solidFill>
                <a:latin typeface="Noto Serif CJK SC"/>
                <a:ea typeface="Noto Serif CJK SC"/>
              </a:rPr>
              <a:t>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60520" y="1481328"/>
            <a:ext cx="27432" cy="182880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26280" y="1417320"/>
            <a:ext cx="6583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200">
                <a:solidFill>
                  <a:srgbClr val="C8A264"/>
                </a:solidFill>
                <a:latin typeface="Noto Sans CJK SC"/>
                <a:ea typeface="Noto Sans CJK SC"/>
              </a:rPr>
              <a:t>PART 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26280" y="1783080"/>
            <a:ext cx="6766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200" b="0" i="0">
                <a:solidFill>
                  <a:srgbClr val="EEE8DC"/>
                </a:solidFill>
                <a:latin typeface="Noto Serif CJK SC"/>
                <a:ea typeface="Noto Serif CJK SC"/>
              </a:rPr>
              <a:t>一段史实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26280" y="265176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9C958A"/>
                </a:solidFill>
                <a:latin typeface="Noto Sans CJK SC"/>
                <a:ea typeface="Noto Sans CJK SC"/>
              </a:rPr>
              <a:t>故事是虚构的，那本相册是真的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2628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时间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397763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1937 年 12 月 13 日，南京沦陷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26280" y="425195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26280" y="448055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地点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60720" y="448055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长江路估衣廊一带，华东照相馆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26280" y="475487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6280" y="49834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人物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60720" y="498347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15 岁的学徒罗瑾，与青年吴旋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26280" y="525779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26280" y="548639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证据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60720" y="548639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16 张照片，编为「京字第一号证据」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26280" y="576071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城破之后的六周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0" i="0">
                <a:solidFill>
                  <a:srgbClr val="C8A264"/>
                </a:solidFill>
                <a:latin typeface="Noto Serif CJK SC"/>
                <a:ea typeface="Noto Serif CJK SC"/>
              </a:rPr>
              <a:t>12.13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EEE8DC"/>
                </a:solidFill>
                <a:latin typeface="Noto Sans CJK SC"/>
                <a:ea typeface="Noto Sans CJK SC"/>
              </a:rPr>
              <a:t>南京沦陷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186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首都陷落，城破之日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01168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0" i="0">
                <a:solidFill>
                  <a:srgbClr val="C8A264"/>
                </a:solidFill>
                <a:latin typeface="Noto Serif CJK SC"/>
                <a:ea typeface="Noto Serif CJK SC"/>
              </a:rPr>
              <a:t>30 万 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88036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EEE8DC"/>
                </a:solidFill>
                <a:latin typeface="Noto Sans CJK SC"/>
                <a:ea typeface="Noto Sans CJK SC"/>
              </a:rPr>
              <a:t>遇难同胞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2186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纪念馆给出的数字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01168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0" i="0">
                <a:solidFill>
                  <a:srgbClr val="C8A264"/>
                </a:solidFill>
                <a:latin typeface="Noto Serif CJK SC"/>
                <a:ea typeface="Noto Serif CJK SC"/>
              </a:rPr>
              <a:t>6 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88036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EEE8DC"/>
                </a:solidFill>
                <a:latin typeface="Noto Sans CJK SC"/>
                <a:ea typeface="Noto Sans CJK SC"/>
              </a:rPr>
              <a:t>暴行持续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2186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长达六周的屠杀与掠夺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77639"/>
            <a:ext cx="1060704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0624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0" i="0">
                <a:solidFill>
                  <a:srgbClr val="EEE8DC"/>
                </a:solidFill>
                <a:latin typeface="Noto Serif CJK SC"/>
                <a:ea typeface="Noto Serif CJK SC"/>
              </a:rPr>
              <a:t>铁证如山，无需渲染血腥。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—— 主创谈这部影片的创作原则（澎湃新闻）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9C958A"/>
                </a:solidFill>
                <a:latin typeface="Noto Sans CJK SC"/>
                <a:ea typeface="Noto Sans CJK SC"/>
              </a:rPr>
              <a:t>数据来源：侵华日军南京大屠杀遇难同胞纪念馆等公开资料。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15 岁的学徒，16 张底片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93392"/>
            <a:ext cx="64465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8000"/>
              </a:lnSpc>
              <a:spcAft>
                <a:spcPts val="13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1938 年 1 月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，南京华东照相馆的学徒罗瑾，替一名日军军官冲洗「樱花牌」胶卷。</a:t>
            </a:r>
          </a:p>
          <a:p>
            <a:pPr marL="274320" indent="-274320">
              <a:lnSpc>
                <a:spcPct val="138000"/>
              </a:lnSpc>
              <a:spcAft>
                <a:spcPts val="13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他加洗了 30 余张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，从中挑出 16 张，装订成一本自制的小相册。</a:t>
            </a:r>
          </a:p>
          <a:p>
            <a:pPr marL="274320" indent="-274320">
              <a:lnSpc>
                <a:spcPct val="138000"/>
              </a:lnSpc>
              <a:spcAft>
                <a:spcPts val="13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封面上，他画下两颗滴血的心、一把刺向心脏的匕首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，并写了一个大大的「耻」字。</a:t>
            </a:r>
          </a:p>
          <a:p>
            <a:pPr marL="274320" indent="-274320">
              <a:lnSpc>
                <a:spcPct val="138000"/>
              </a:lnSpc>
              <a:spcAft>
                <a:spcPts val="13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此后近八年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，这本相册在罗瑾与吴旋两位青年手中接力保存。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1691640"/>
            <a:ext cx="2743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0" b="0" i="0">
                <a:solidFill>
                  <a:srgbClr val="C8A264"/>
                </a:solidFill>
                <a:latin typeface="Noto Serif CJK SC"/>
                <a:ea typeface="Noto Serif CJK SC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45552" y="32461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张照片，装订成册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12680" y="4251960"/>
            <a:ext cx="960120" cy="960120"/>
          </a:xfrm>
          <a:prstGeom prst="rect">
            <a:avLst/>
          </a:prstGeom>
          <a:solidFill>
            <a:srgbClr val="8C2F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370832"/>
            <a:ext cx="960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3400" b="0" i="0">
                <a:solidFill>
                  <a:srgbClr val="EEE8DC"/>
                </a:solidFill>
                <a:latin typeface="Noto Serif CJK SC"/>
                <a:ea typeface="Noto Serif CJK SC"/>
              </a:rPr>
              <a:t>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9C958A"/>
                </a:solidFill>
                <a:latin typeface="Noto Sans CJK SC"/>
                <a:ea typeface="Noto Sans CJK SC"/>
              </a:rPr>
              <a:t>原件现藏中国第二历史档案馆，复制件在纪念馆史料陈列厅展出。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09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从一本相册，到一份判决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4041648"/>
            <a:ext cx="10241280" cy="18288"/>
          </a:xfrm>
          <a:prstGeom prst="rect">
            <a:avLst/>
          </a:prstGeom>
          <a:solidFill>
            <a:srgbClr val="6E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" y="3986784"/>
            <a:ext cx="128016" cy="128016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8A264"/>
                </a:solidFill>
                <a:latin typeface="Noto Serif CJK SC"/>
                <a:ea typeface="Noto Serif CJK SC"/>
              </a:rPr>
              <a:t>1938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2057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 i="0">
                <a:solidFill>
                  <a:srgbClr val="C9C2B4"/>
                </a:solidFill>
                <a:latin typeface="Noto Sans CJK SC"/>
                <a:ea typeface="Noto Sans CJK SC"/>
              </a:rPr>
              <a:t>罗瑾制作相册，冒死秘密保存。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6432" y="3986784"/>
            <a:ext cx="128016" cy="128016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59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8A264"/>
                </a:solidFill>
                <a:latin typeface="Noto Serif CJK SC"/>
                <a:ea typeface="Noto Serif CJK SC"/>
              </a:rPr>
              <a:t>1946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343400"/>
            <a:ext cx="2057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 i="0">
                <a:solidFill>
                  <a:srgbClr val="C9C2B4"/>
                </a:solidFill>
                <a:latin typeface="Noto Sans CJK SC"/>
                <a:ea typeface="Noto Sans CJK SC"/>
              </a:rPr>
              <a:t>八年守护后，吴旋将相册呈交南京审判战犯军事法庭。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88151" y="3986784"/>
            <a:ext cx="128016" cy="128016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79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8A264"/>
                </a:solidFill>
                <a:latin typeface="Noto Serif CJK SC"/>
                <a:ea typeface="Noto Serif CJK SC"/>
              </a:rPr>
              <a:t>1947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343400"/>
            <a:ext cx="2057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 i="0">
                <a:solidFill>
                  <a:srgbClr val="C9C2B4"/>
                </a:solidFill>
                <a:latin typeface="Noto Sans CJK SC"/>
                <a:ea typeface="Noto Sans CJK SC"/>
              </a:rPr>
              <a:t>4 月 26 日，主犯谷寿夫在雨花台被执行枪决。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1" y="3986784"/>
            <a:ext cx="128016" cy="128016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8A264"/>
                </a:solidFill>
                <a:latin typeface="Noto Serif CJK SC"/>
                <a:ea typeface="Noto Serif CJK SC"/>
              </a:rPr>
              <a:t>1995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59" y="4343400"/>
            <a:ext cx="2057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 i="0">
                <a:solidFill>
                  <a:srgbClr val="C9C2B4"/>
                </a:solidFill>
                <a:latin typeface="Noto Sans CJK SC"/>
                <a:ea typeface="Noto Sans CJK SC"/>
              </a:rPr>
              <a:t>两位白发守护者在纪念馆重逢。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451592" y="3986784"/>
            <a:ext cx="128016" cy="128016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04120" y="340156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8A264"/>
                </a:solidFill>
                <a:latin typeface="Noto Serif CJK SC"/>
                <a:ea typeface="Noto Serif CJK SC"/>
              </a:rPr>
              <a:t>今天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4343400"/>
            <a:ext cx="2057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 i="0">
                <a:solidFill>
                  <a:srgbClr val="C9C2B4"/>
                </a:solidFill>
                <a:latin typeface="Noto Sans CJK SC"/>
                <a:ea typeface="Noto Sans CJK SC"/>
              </a:rPr>
              <a:t>原件藏中国第二历史档案馆，并向公众展出。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7784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9C958A"/>
                </a:solidFill>
                <a:latin typeface="Noto Sans CJK SC"/>
                <a:ea typeface="Noto Sans CJK SC"/>
              </a:rPr>
              <a:t>这本由日军自己拍下、由中国人拼命留住的相册，成了审判时最直接的一份证据。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改编，也是一次取舍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0195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20">
                <a:solidFill>
                  <a:srgbClr val="9C958A"/>
                </a:solidFill>
                <a:latin typeface="Noto Sans CJK SC"/>
                <a:ea typeface="Noto Sans CJK SC"/>
              </a:rPr>
              <a:t>对照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19019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20">
                <a:solidFill>
                  <a:srgbClr val="C8A264"/>
                </a:solidFill>
                <a:latin typeface="Noto Sans CJK SC"/>
                <a:ea typeface="Noto Sans CJK SC"/>
              </a:rPr>
              <a:t>史实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80" y="19019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20">
                <a:solidFill>
                  <a:srgbClr val="C8A264"/>
                </a:solidFill>
                <a:latin typeface="Noto Sans CJK SC"/>
                <a:ea typeface="Noto Sans CJK SC"/>
              </a:rPr>
              <a:t>银幕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212848"/>
            <a:ext cx="104241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4144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9C958A"/>
                </a:solidFill>
                <a:latin typeface="Noto Sans CJK SC"/>
                <a:ea typeface="Noto Sans CJK SC"/>
              </a:rPr>
              <a:t>人物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395728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两个 15 岁的少年：罗瑾、吴旋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395728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合并为邮差阿昌，加上相馆里的众人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236976"/>
            <a:ext cx="104241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7413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9C958A"/>
                </a:solidFill>
                <a:latin typeface="Noto Sans CJK SC"/>
                <a:ea typeface="Noto Sans CJK SC"/>
              </a:rPr>
              <a:t>空间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328416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华东照相馆，长江路估衣廊一带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328416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改置「吉祥照相馆」，更集中的舞台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169664"/>
            <a:ext cx="104241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3068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9C958A"/>
                </a:solidFill>
                <a:latin typeface="Noto Sans CJK SC"/>
                <a:ea typeface="Noto Sans CJK SC"/>
              </a:rPr>
              <a:t>结局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261104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相册被秘密保存，战后呈交法庭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261104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底片「送出城」成为最后一幕的悬念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102352"/>
            <a:ext cx="104241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9496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8A264"/>
                </a:solidFill>
                <a:latin typeface="Noto Sans CJK SC"/>
                <a:ea typeface="Noto Sans CJK SC"/>
              </a:rPr>
              <a:t>改编不是改写事实，而是把史料的「档案感」，翻译成一个人的处境。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02 · 一段史实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影像 · 预告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先看一分半钟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56692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8000"/>
              </a:lnSpc>
              <a:spcAft>
                <a:spcPts val="14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看镜头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：为什么一路都在晃，颜色为什么这么脏？</a:t>
            </a:r>
          </a:p>
          <a:p>
            <a:pPr marL="274320" indent="-274320">
              <a:lnSpc>
                <a:spcPct val="138000"/>
              </a:lnSpc>
              <a:spcAft>
                <a:spcPts val="14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看人物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：七个人，谁在决定，谁在沉默？</a:t>
            </a:r>
          </a:p>
          <a:p>
            <a:pPr marL="274320" indent="-274320">
              <a:lnSpc>
                <a:spcPct val="138000"/>
              </a:lnSpc>
              <a:spcAft>
                <a:spcPts val="14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看物件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：底片被谁拿着，又被谁看见？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9C958A"/>
                </a:solidFill>
                <a:latin typeface="Noto Sans CJK SC"/>
                <a:ea typeface="Noto Sans CJK SC"/>
              </a:rPr>
              <a:t>预告物料版权归片方所有，课堂引用仅作分析。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720840" y="1938528"/>
            <a:ext cx="4617720" cy="2615184"/>
          </a:xfrm>
          <a:prstGeom prst="rect">
            <a:avLst/>
          </a:prstGeom>
          <a:solidFill>
            <a:srgbClr val="222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720840" y="1938528"/>
            <a:ext cx="4617720" cy="2615184"/>
          </a:xfrm>
          <a:prstGeom prst="rect">
            <a:avLst/>
          </a:prstGeom>
          <a:noFill/>
          <a:ln w="12700">
            <a:solidFill>
              <a:srgbClr val="322F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trai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4882896"/>
            <a:ext cx="960120" cy="960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3840" y="4901184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>扫码直达 B 站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>bilibili.com/video/BV1t2K1zgEgi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/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>▶ 替换方法见本页备注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影像 · 预告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12 / 27</a:t>
            </a:r>
          </a:p>
        </p:txBody>
      </p:sp>
      <p:pic>
        <p:nvPicPr>
          <p:cNvPr id="16" name="trailer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720840" y="1938528"/>
            <a:ext cx="4617720" cy="2596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20840" y="4626864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>
                <a:solidFill>
                  <a:srgbClr val="9C958A"/>
                </a:solidFill>
                <a:latin typeface="Noto Sans CJK SC"/>
                <a:ea typeface="Noto Sans CJK SC"/>
              </a:rPr>
              <a:t>影片：首支预告 ｜ 1 分 34 秒 ｜ 点击画面播放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529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5564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1635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46703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7705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3775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6811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9846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2881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916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1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5022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057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10928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7163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30198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3233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459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2529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5564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1635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46703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7705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0740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93775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6811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9846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2881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5916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8951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19871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5022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8057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10928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24128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7163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30198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83233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1188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200" b="0" i="0">
                <a:solidFill>
                  <a:srgbClr val="6E5C39"/>
                </a:solidFill>
                <a:latin typeface="Noto Serif CJK SC"/>
                <a:ea typeface="Noto Serif CJK SC"/>
              </a:rPr>
              <a:t>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60520" y="1481328"/>
            <a:ext cx="27432" cy="182880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26280" y="1417320"/>
            <a:ext cx="6583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200">
                <a:solidFill>
                  <a:srgbClr val="C8A264"/>
                </a:solidFill>
                <a:latin typeface="Noto Sans CJK SC"/>
                <a:ea typeface="Noto Sans CJK SC"/>
              </a:rPr>
              <a:t>PART 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26280" y="1783080"/>
            <a:ext cx="6766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200" b="0" i="0">
                <a:solidFill>
                  <a:srgbClr val="EEE8DC"/>
                </a:solidFill>
                <a:latin typeface="Noto Serif CJK SC"/>
                <a:ea typeface="Noto Serif CJK SC"/>
              </a:rPr>
              <a:t>一次显影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26280" y="265176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9C958A"/>
                </a:solidFill>
                <a:latin typeface="Noto Sans CJK SC"/>
                <a:ea typeface="Noto Sans CJK SC"/>
              </a:rPr>
              <a:t>光、色、声，如何替历史说话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2628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色调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397763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近乎全片的低饱和冷色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26280" y="425195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26280" y="448055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唯一暖光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60720" y="448055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暗房里的红灯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26280" y="475487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6280" y="49834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一次爆发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60720" y="498347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手绘山河背景布展开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26280" y="525779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26280" y="548639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声音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60720" y="548639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方言、环境声、留白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26280" y="576071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冷色，和唯一的红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57607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8000"/>
              </a:lnSpc>
              <a:spcAft>
                <a:spcPts val="1200"/>
              </a:spcAft>
            </a:pPr>
            <a:r>
              <a:rPr sz="140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00" b="1">
                <a:solidFill>
                  <a:srgbClr val="EEE8DC"/>
                </a:solidFill>
                <a:latin typeface="Noto Sans CJK SC"/>
                <a:ea typeface="Noto Sans CJK SC"/>
              </a:rPr>
              <a:t>低饱和冷调</a:t>
            </a:r>
            <a:r>
              <a:rPr sz="1400">
                <a:solidFill>
                  <a:srgbClr val="C9C2B4"/>
                </a:solidFill>
                <a:latin typeface="Noto Sans CJK SC"/>
                <a:ea typeface="Noto Sans CJK SC"/>
              </a:rPr>
              <a:t>：灰黑城墙、深绿军装、蒙尘的衣裳。</a:t>
            </a:r>
          </a:p>
          <a:p>
            <a:pPr marL="274320" indent="-274320">
              <a:lnSpc>
                <a:spcPct val="138000"/>
              </a:lnSpc>
              <a:spcAft>
                <a:spcPts val="1200"/>
              </a:spcAft>
            </a:pPr>
            <a:r>
              <a:rPr sz="140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00" b="1">
                <a:solidFill>
                  <a:srgbClr val="EEE8DC"/>
                </a:solidFill>
                <a:latin typeface="Noto Sans CJK SC"/>
                <a:ea typeface="Noto Sans CJK SC"/>
              </a:rPr>
              <a:t>暗房红光</a:t>
            </a:r>
            <a:r>
              <a:rPr sz="1400">
                <a:solidFill>
                  <a:srgbClr val="C9C2B4"/>
                </a:solidFill>
                <a:latin typeface="Noto Sans CJK SC"/>
                <a:ea typeface="Noto Sans CJK SC"/>
              </a:rPr>
              <a:t>：全片最暖的光，却来自冲洗罪证的地方。</a:t>
            </a:r>
          </a:p>
          <a:p>
            <a:pPr marL="274320" indent="-274320">
              <a:lnSpc>
                <a:spcPct val="138000"/>
              </a:lnSpc>
              <a:spcAft>
                <a:spcPts val="1200"/>
              </a:spcAft>
            </a:pPr>
            <a:r>
              <a:rPr sz="140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00" b="1">
                <a:solidFill>
                  <a:srgbClr val="EEE8DC"/>
                </a:solidFill>
                <a:latin typeface="Noto Sans CJK SC"/>
                <a:ea typeface="Noto Sans CJK SC"/>
              </a:rPr>
              <a:t>手持与摇晃</a:t>
            </a:r>
            <a:r>
              <a:rPr sz="1400">
                <a:solidFill>
                  <a:srgbClr val="C9C2B4"/>
                </a:solidFill>
                <a:latin typeface="Noto Sans CJK SC"/>
                <a:ea typeface="Noto Sans CJK SC"/>
              </a:rPr>
              <a:t>：让画面像目击，而不是观看。</a:t>
            </a:r>
          </a:p>
          <a:p>
            <a:pPr marL="274320" indent="-274320">
              <a:lnSpc>
                <a:spcPct val="138000"/>
              </a:lnSpc>
              <a:spcAft>
                <a:spcPts val="1200"/>
              </a:spcAft>
            </a:pPr>
            <a:r>
              <a:rPr sz="140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00" b="1">
                <a:solidFill>
                  <a:srgbClr val="EEE8DC"/>
                </a:solidFill>
                <a:latin typeface="Noto Sans CJK SC"/>
                <a:ea typeface="Noto Sans CJK SC"/>
              </a:rPr>
              <a:t>克制</a:t>
            </a:r>
            <a:r>
              <a:rPr sz="1400">
                <a:solidFill>
                  <a:srgbClr val="C9C2B4"/>
                </a:solidFill>
                <a:latin typeface="Noto Sans CJK SC"/>
                <a:ea typeface="Noto Sans CJK SC"/>
              </a:rPr>
              <a:t>：暴力大多留在画外，靠声音与影子完成。</a:t>
            </a:r>
          </a:p>
        </p:txBody>
      </p:sp>
      <p:pic>
        <p:nvPicPr>
          <p:cNvPr id="6" name="Picture 5" descr="darkroom.jpg"/>
          <p:cNvPicPr>
            <a:picLocks noChangeAspect="1"/>
          </p:cNvPicPr>
          <p:nvPr/>
        </p:nvPicPr>
        <p:blipFill>
          <a:blip r:embed="rId2"/>
          <a:srcRect l="28570" r="28570"/>
          <a:stretch>
            <a:fillRect/>
          </a:stretch>
        </p:blipFill>
        <p:spPr>
          <a:xfrm>
            <a:off x="6967728" y="0"/>
            <a:ext cx="5223967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5899" y="0"/>
            <a:ext cx="18288" cy="6858000"/>
          </a:xfrm>
          <a:prstGeom prst="rect">
            <a:avLst/>
          </a:prstGeom>
          <a:solidFill>
            <a:srgbClr val="6E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647395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9C958A"/>
                </a:solidFill>
                <a:latin typeface="Noto Sans CJK SC"/>
                <a:ea typeface="Noto Sans CJK SC"/>
              </a:rPr>
              <a:t>AI 生成示意图，非影片剧照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一卷手绘山河，是全片最饱和的一刻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3401568" cy="2697480"/>
          </a:xfrm>
          <a:prstGeom prst="rect">
            <a:avLst/>
          </a:prstGeom>
          <a:solidFill>
            <a:srgbClr val="8C2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3172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故宫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077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20">
                <a:solidFill>
                  <a:srgbClr val="EEE8DC"/>
                </a:solidFill>
                <a:latin typeface="Noto Sans CJK SC"/>
                <a:ea typeface="Noto Sans CJK SC"/>
              </a:rPr>
              <a:t>朱红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9392" y="2057400"/>
            <a:ext cx="3401568" cy="2697480"/>
          </a:xfrm>
          <a:prstGeom prst="rect">
            <a:avLst/>
          </a:prstGeom>
          <a:solidFill>
            <a:srgbClr val="2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1" y="233172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西湖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1" y="29077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20">
                <a:solidFill>
                  <a:srgbClr val="EEE8DC"/>
                </a:solidFill>
                <a:latin typeface="Noto Sans CJK SC"/>
                <a:ea typeface="Noto Sans CJK SC"/>
              </a:rPr>
              <a:t>碧波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81544" y="2057400"/>
            <a:ext cx="3401568" cy="2697480"/>
          </a:xfrm>
          <a:prstGeom prst="rect">
            <a:avLst/>
          </a:prstGeom>
          <a:solidFill>
            <a:srgbClr val="465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1583" y="233172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长城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3" y="29077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20">
                <a:solidFill>
                  <a:srgbClr val="EEE8DC"/>
                </a:solidFill>
                <a:latin typeface="Noto Sans CJK SC"/>
                <a:ea typeface="Noto Sans CJK SC"/>
              </a:rPr>
              <a:t>青砖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34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400" b="0" i="0">
                <a:solidFill>
                  <a:srgbClr val="C9C2B4"/>
                </a:solidFill>
                <a:latin typeface="Noto Sans CJK SC"/>
                <a:ea typeface="Noto Sans CJK SC"/>
              </a:rPr>
              <a:t>背景布展开之前，画面几乎只有灰；展开之后，颜色回来了。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400" b="0" i="0">
                <a:solidFill>
                  <a:srgbClr val="C9C2B4"/>
                </a:solidFill>
                <a:latin typeface="Noto Sans CJK SC"/>
                <a:ea typeface="Noto Sans CJK SC"/>
              </a:rPr>
              <a:t>那是他们拼死也要守住的东西——不是抽象的「国家」，是一张具体的山河。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声音：方言、静默、留白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EEE8DC"/>
                </a:solidFill>
                <a:latin typeface="Noto Serif CJK SC"/>
                <a:ea typeface="Noto Serif CJK SC"/>
              </a:rPr>
              <a:t>方言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15468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12724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南京籍演员说南京话，上海籍、北方籍演员各说各的口音，让这座城有它真实的声音。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65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0832" y="224028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EEE8DC"/>
                </a:solidFill>
                <a:latin typeface="Noto Serif CJK SC"/>
                <a:ea typeface="Noto Serif CJK SC"/>
              </a:rPr>
              <a:t>静默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2" y="2697480"/>
            <a:ext cx="315468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70832" y="2834640"/>
            <a:ext cx="312724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越重的段落，越少给配乐。情绪由处境推着走，而不是被音乐推着走。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64424" y="1965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64424" y="224028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EEE8DC"/>
                </a:solidFill>
                <a:latin typeface="Noto Serif CJK SC"/>
                <a:ea typeface="Noto Serif CJK SC"/>
              </a:rPr>
              <a:t>环境声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64424" y="2697480"/>
            <a:ext cx="315468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64424" y="2834640"/>
            <a:ext cx="312724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快门、显影液、脚步、风声——恐惧被放进日常的声响里。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60520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38912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500" b="0" i="0">
                <a:solidFill>
                  <a:srgbClr val="EEE8DC"/>
                </a:solidFill>
                <a:latin typeface="Noto Serif CJK SC"/>
                <a:ea typeface="Noto Serif CJK SC"/>
              </a:rPr>
              <a:t>「南京不只有南京人，南京也是中国人的南京。」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83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—— 导演 申奥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69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9C958A"/>
                </a:solidFill>
                <a:latin typeface="Noto Sans CJK SC"/>
                <a:ea typeface="Noto Sans CJK SC"/>
              </a:rPr>
              <a:t>本页为观影分析，非官方创作说明。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照片，是舆论战的武器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「照片是舆论战的武器，我要把这个拍透彻。」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40">
                <a:solidFill>
                  <a:srgbClr val="C8A264"/>
                </a:solidFill>
                <a:latin typeface="Noto Sans CJK SC"/>
                <a:ea typeface="Noto Sans CJK SC"/>
              </a:rPr>
              <a:t>—— 导演 申奥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566160"/>
            <a:ext cx="32461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75887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C8A264"/>
                </a:solidFill>
                <a:latin typeface="Noto Serif CJK SC"/>
                <a:ea typeface="Noto Serif CJK SC"/>
              </a:rPr>
              <a:t>谁在拍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96512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施暴者按下快门，本想留下「战功」。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3672" y="3566160"/>
            <a:ext cx="32461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3672" y="3675887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C8A264"/>
                </a:solidFill>
                <a:latin typeface="Noto Serif CJK SC"/>
                <a:ea typeface="Noto Serif CJK SC"/>
              </a:rPr>
              <a:t>谁在洗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33672" y="4096512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中国人被迫冲洗，却在显影液里看见真相。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90104" y="3566160"/>
            <a:ext cx="32461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0104" y="3675887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C8A264"/>
                </a:solidFill>
                <a:latin typeface="Noto Serif CJK SC"/>
                <a:ea typeface="Noto Serif CJK SC"/>
              </a:rPr>
              <a:t>谁在看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0104" y="4096512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250" b="0" i="0">
                <a:solidFill>
                  <a:srgbClr val="C9C2B4"/>
                </a:solidFill>
                <a:latin typeface="Noto Sans CJK SC"/>
                <a:ea typeface="Noto Sans CJK SC"/>
              </a:rPr>
              <a:t>法庭、世界，以及八十年后的我们。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321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9C958A"/>
                </a:solidFill>
                <a:latin typeface="Noto Sans CJK SC"/>
                <a:ea typeface="Noto Sans CJK SC"/>
              </a:rPr>
              <a:t>影片把「影像」本身变成了战场：拍、洗、看，每一步都是争夺。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王广海：选择的反面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5943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8000"/>
              </a:lnSpc>
              <a:spcAft>
                <a:spcPts val="14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他是日语翻译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，想靠投靠日军换一条活路。</a:t>
            </a:r>
          </a:p>
          <a:p>
            <a:pPr marL="274320" indent="-274320">
              <a:lnSpc>
                <a:spcPct val="138000"/>
              </a:lnSpc>
              <a:spcAft>
                <a:spcPts val="14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他不是脸谱化的恶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，而是乱世里很常见的一种「精明」。</a:t>
            </a:r>
          </a:p>
          <a:p>
            <a:pPr marL="274320" indent="-274320">
              <a:lnSpc>
                <a:spcPct val="138000"/>
              </a:lnSpc>
              <a:spcAft>
                <a:spcPts val="1400"/>
              </a:spcAft>
            </a:pPr>
            <a:r>
              <a:rPr sz="1450">
                <a:solidFill>
                  <a:srgbClr val="C8A264"/>
                </a:solidFill>
                <a:latin typeface="Noto Sans CJK SC"/>
                <a:ea typeface="Noto Sans CJK SC"/>
              </a:rPr>
              <a:t>— </a:t>
            </a:r>
            <a:r>
              <a:rPr sz="1450" b="1">
                <a:solidFill>
                  <a:srgbClr val="EEE8DC"/>
                </a:solidFill>
                <a:latin typeface="Noto Sans CJK SC"/>
                <a:ea typeface="Noto Sans CJK SC"/>
              </a:rPr>
              <a:t>影片用他提问</a:t>
            </a:r>
            <a:r>
              <a:rPr sz="1450">
                <a:solidFill>
                  <a:srgbClr val="C9C2B4"/>
                </a:solidFill>
                <a:latin typeface="Noto Sans CJK SC"/>
                <a:ea typeface="Noto Sans CJK SC"/>
              </a:rPr>
              <a:t>：活下去，和做对的事，是从哪一步开始分开的？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2011680"/>
            <a:ext cx="4160520" cy="2331720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60920" y="228600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如果是我，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会怎么选？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36118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9C958A"/>
                </a:solidFill>
                <a:latin typeface="Noto Sans CJK SC"/>
                <a:ea typeface="Noto Sans CJK SC"/>
              </a:rPr>
              <a:t>把这个问题带回自己的处境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为什么不拍血腥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0116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EEE8DC"/>
                </a:solidFill>
                <a:latin typeface="Noto Serif CJK SC"/>
                <a:ea typeface="Noto Serif CJK SC"/>
              </a:rPr>
              <a:t>不展示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048256"/>
            <a:ext cx="7406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9C2B4"/>
                </a:solidFill>
                <a:latin typeface="Noto Sans CJK SC"/>
                <a:ea typeface="Noto Sans CJK SC"/>
              </a:rPr>
              <a:t>暴行多发生在画外，镜头停在人的脸上。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78608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9260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8803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EEE8DC"/>
                </a:solidFill>
                <a:latin typeface="Noto Serif CJK SC"/>
                <a:ea typeface="Noto Serif CJK SC"/>
              </a:rPr>
              <a:t>不煽动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916936"/>
            <a:ext cx="7406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9C2B4"/>
                </a:solidFill>
                <a:latin typeface="Noto Sans CJK SC"/>
                <a:ea typeface="Noto Sans CJK SC"/>
              </a:rPr>
              <a:t>情绪来自处境，而不是配乐与特写。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447288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749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EEE8DC"/>
                </a:solidFill>
                <a:latin typeface="Noto Serif CJK SC"/>
                <a:ea typeface="Noto Serif CJK SC"/>
              </a:rPr>
              <a:t>不消费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785616"/>
            <a:ext cx="7406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9C2B4"/>
                </a:solidFill>
                <a:latin typeface="Noto Sans CJK SC"/>
                <a:ea typeface="Noto Sans CJK SC"/>
              </a:rPr>
              <a:t>「不必血腥当噱头」——这是导演的创作原则。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315968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50" b="0" i="0">
                <a:solidFill>
                  <a:srgbClr val="9C958A"/>
                </a:solidFill>
                <a:latin typeface="Noto Sans CJK SC"/>
                <a:ea typeface="Noto Sans CJK SC"/>
              </a:rPr>
              <a:t>代价是：冲击力被主动削弱。有人觉得它「不够狠」，也有人觉得这正是分寸。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50" b="0" i="0">
                <a:solidFill>
                  <a:srgbClr val="9C958A"/>
                </a:solidFill>
                <a:latin typeface="Noto Sans CJK SC"/>
                <a:ea typeface="Noto Sans CJK SC"/>
              </a:rPr>
              <a:t>这个问题，我们留到最后一页。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03 · 一次显影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它有多「火」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C8A264"/>
                </a:solidFill>
                <a:latin typeface="Noto Serif CJK SC"/>
                <a:ea typeface="Noto Serif CJK SC"/>
              </a:rPr>
              <a:t>30 亿 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9923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累计票房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10128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 i="0">
                <a:solidFill>
                  <a:srgbClr val="9C958A"/>
                </a:solidFill>
                <a:latin typeface="Noto Sans CJK SC"/>
                <a:ea typeface="Noto Sans CJK SC"/>
              </a:rPr>
              <a:t>截至 2025 年 9 月 23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210312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C8A264"/>
                </a:solidFill>
                <a:latin typeface="Noto Serif CJK SC"/>
                <a:ea typeface="Noto Serif CJK SC"/>
              </a:rPr>
              <a:t>8.6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99923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豆瓣评分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310128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 i="0">
                <a:solidFill>
                  <a:srgbClr val="9C958A"/>
                </a:solidFill>
                <a:latin typeface="Noto Sans CJK SC"/>
                <a:ea typeface="Noto Sans CJK SC"/>
              </a:rPr>
              <a:t>2025 年暑期档口碑前列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0312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C8A264"/>
                </a:solidFill>
                <a:latin typeface="Noto Serif CJK SC"/>
                <a:ea typeface="Noto Serif CJK SC"/>
              </a:rPr>
              <a:t>2,800 万 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99923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观影人次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310128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 i="0">
                <a:solidFill>
                  <a:srgbClr val="9C958A"/>
                </a:solidFill>
                <a:latin typeface="Noto Sans CJK SC"/>
                <a:ea typeface="Noto Sans CJK SC"/>
              </a:rPr>
              <a:t>票房破 10 亿时的统计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2103120"/>
            <a:ext cx="2606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C8A264"/>
                </a:solidFill>
                <a:latin typeface="Noto Serif CJK SC"/>
                <a:ea typeface="Noto Serif CJK SC"/>
              </a:rPr>
              <a:t>3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99923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EEE8DC"/>
                </a:solidFill>
                <a:latin typeface="Noto Sans CJK SC"/>
                <a:ea typeface="Noto Sans CJK SC"/>
              </a:rPr>
              <a:t>金鹿奖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3310128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 i="0">
                <a:solidFill>
                  <a:srgbClr val="9C958A"/>
                </a:solidFill>
                <a:latin typeface="Noto Sans CJK SC"/>
                <a:ea typeface="Noto Sans CJK SC"/>
              </a:rPr>
              <a:t>最佳影片 / 导演 / 编剧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51960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480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 i="0">
                <a:solidFill>
                  <a:srgbClr val="C9C2B4"/>
                </a:solidFill>
                <a:latin typeface="Noto Sans CJK SC"/>
                <a:ea typeface="Noto Sans CJK SC"/>
              </a:rPr>
              <a:t>上映 5 天破 6 亿，14 天约 19 亿。它把一段沉重历史，带进了暑期档最热闹的档期。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138928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28523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100">
                <a:solidFill>
                  <a:srgbClr val="C8A264"/>
                </a:solidFill>
                <a:latin typeface="Noto Sans CJK SC"/>
                <a:ea typeface="Noto Sans CJK SC"/>
              </a:rPr>
              <a:t>第 5 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EEE8DC"/>
                </a:solidFill>
                <a:latin typeface="Noto Serif CJK SC"/>
                <a:ea typeface="Noto Serif CJK SC"/>
              </a:rPr>
              <a:t>6 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528523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100">
                <a:solidFill>
                  <a:srgbClr val="C8A264"/>
                </a:solidFill>
                <a:latin typeface="Noto Sans CJK SC"/>
                <a:ea typeface="Noto Sans CJK SC"/>
              </a:rPr>
              <a:t>第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5522976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EEE8DC"/>
                </a:solidFill>
                <a:latin typeface="Noto Serif CJK SC"/>
                <a:ea typeface="Noto Serif CJK SC"/>
              </a:rPr>
              <a:t>19 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528523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100">
                <a:solidFill>
                  <a:srgbClr val="C8A264"/>
                </a:solidFill>
                <a:latin typeface="Noto Sans CJK SC"/>
                <a:ea typeface="Noto Sans CJK SC"/>
              </a:rPr>
              <a:t>2025.09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522976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EEE8DC"/>
                </a:solidFill>
                <a:latin typeface="Noto Serif CJK SC"/>
                <a:ea typeface="Noto Serif CJK SC"/>
              </a:rPr>
              <a:t>30 亿 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最大的彩蛋，在影院外面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166360" cy="2606040"/>
          </a:xfrm>
          <a:prstGeom prst="rect">
            <a:avLst/>
          </a:prstGeom>
          <a:solidFill>
            <a:srgbClr val="181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0" i="0">
                <a:solidFill>
                  <a:srgbClr val="6E5C39"/>
                </a:solidFill>
                <a:latin typeface="Noto Serif CJK SC"/>
                <a:ea typeface="Noto Serif CJK SC"/>
              </a:rPr>
              <a:t>1937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3520440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400" b="0" i="0">
                <a:solidFill>
                  <a:srgbClr val="9C958A"/>
                </a:solidFill>
                <a:latin typeface="Noto Sans CJK SC"/>
                <a:ea typeface="Noto Sans CJK SC"/>
              </a:rPr>
              <a:t>走出影院之前，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400" b="0" i="0">
                <a:solidFill>
                  <a:srgbClr val="9C958A"/>
                </a:solidFill>
                <a:latin typeface="Noto Sans CJK SC"/>
                <a:ea typeface="Noto Sans CJK SC"/>
              </a:rPr>
              <a:t>我们刚看完一座废墟。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965960"/>
            <a:ext cx="5166360" cy="260604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103120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0" i="0">
                <a:solidFill>
                  <a:srgbClr val="C8A264"/>
                </a:solidFill>
                <a:latin typeface="Noto Serif CJK SC"/>
                <a:ea typeface="Noto Serif CJK SC"/>
              </a:rPr>
              <a:t>今天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3520440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400" b="0" i="0">
                <a:solidFill>
                  <a:srgbClr val="C9C2B4"/>
                </a:solidFill>
                <a:latin typeface="Noto Sans CJK SC"/>
                <a:ea typeface="Noto Sans CJK SC"/>
              </a:rPr>
              <a:t>走出影院之后，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400" b="0" i="0">
                <a:solidFill>
                  <a:srgbClr val="C9C2B4"/>
                </a:solidFill>
                <a:latin typeface="Noto Sans CJK SC"/>
                <a:ea typeface="Noto Sans CJK SC"/>
              </a:rPr>
              <a:t>是一座亮着灯的城市。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92040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500" b="0" i="0">
                <a:solidFill>
                  <a:srgbClr val="EEE8DC"/>
                </a:solidFill>
                <a:latin typeface="Noto Serif CJK SC"/>
                <a:ea typeface="Noto Serif CJK SC"/>
              </a:rPr>
              <a:t>路演时主创留给观众的那句话：走出影院看到的繁华中国，就是这部电影最大的彩蛋。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幕后：1:1 复原一座城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500 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置景团队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20116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3 个月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514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搭建周期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2.5 万 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实景面积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06324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 i="0">
                <a:solidFill>
                  <a:srgbClr val="EEE8DC"/>
                </a:solidFill>
                <a:latin typeface="Noto Serif CJK SC"/>
                <a:ea typeface="Noto Serif CJK SC"/>
              </a:rPr>
              <a:t>车墩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566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上海影视乐园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1605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团队还查阅了近千万字文献、上万张历史图片，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00" b="0" i="0">
                <a:solidFill>
                  <a:srgbClr val="C9C2B4"/>
                </a:solidFill>
                <a:latin typeface="Noto Sans CJK SC"/>
                <a:ea typeface="Noto Sans CJK SC"/>
              </a:rPr>
              <a:t>把档案里的照片与图纸，重新变成街道和墙。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49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9C958A"/>
                </a:solidFill>
                <a:latin typeface="Noto Sans CJK SC"/>
                <a:ea typeface="Noto Sans CJK SC"/>
              </a:rPr>
              <a:t>特辑版权归片方所有，课堂引用仅作分析。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938528"/>
            <a:ext cx="4617720" cy="2615184"/>
          </a:xfrm>
          <a:prstGeom prst="rect">
            <a:avLst/>
          </a:prstGeom>
          <a:solidFill>
            <a:srgbClr val="222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20840" y="1938528"/>
            <a:ext cx="4617720" cy="2615184"/>
          </a:xfrm>
          <a:prstGeom prst="rect">
            <a:avLst/>
          </a:prstGeom>
          <a:noFill/>
          <a:ln w="12700">
            <a:solidFill>
              <a:srgbClr val="322F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397763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EE8DC"/>
                </a:solidFill>
                <a:latin typeface="Noto Sans CJK SC"/>
                <a:ea typeface="Noto Sans CJK SC"/>
              </a:rPr>
              <a:t>《南京照相馆》制作特辑</a:t>
            </a:r>
          </a:p>
        </p:txBody>
      </p:sp>
      <p:pic>
        <p:nvPicPr>
          <p:cNvPr id="20" name="Picture 19" descr="qr_featur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4882896"/>
            <a:ext cx="960120" cy="960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863840" y="4901184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>扫码直达 B 站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>bilibili.com/video/BV1aegizwEjD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/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 i="0">
                <a:solidFill>
                  <a:srgbClr val="9C958A"/>
                </a:solidFill>
                <a:latin typeface="Noto Sans CJK SC"/>
                <a:ea typeface="Noto Sans CJK SC"/>
              </a:rPr>
              <a:t>▶ 替换方法见本页备注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22 / 27</a:t>
            </a:r>
          </a:p>
        </p:txBody>
      </p:sp>
      <p:pic>
        <p:nvPicPr>
          <p:cNvPr id="24" name="featurette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720840" y="1938528"/>
            <a:ext cx="4617720" cy="25968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20840" y="4626864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>
                <a:solidFill>
                  <a:srgbClr val="9C958A"/>
                </a:solidFill>
                <a:latin typeface="Noto Sans CJK SC"/>
                <a:ea typeface="Noto Sans CJK SC"/>
              </a:rPr>
              <a:t>影片：制作特辑 ｜ 3 分 47 秒 ｜ 建议现场只放 1 分钟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4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529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5564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1635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46703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7705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3775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6811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9846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2881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916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1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5022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057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10928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7163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30198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3233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459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2529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5564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1635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46703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7705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0740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93775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6811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9846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2881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5916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8951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19871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5022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8057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10928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24128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7163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30198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83233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1188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200" b="0" i="0">
                <a:solidFill>
                  <a:srgbClr val="6E5C39"/>
                </a:solidFill>
                <a:latin typeface="Noto Serif CJK SC"/>
                <a:ea typeface="Noto Serif CJK SC"/>
              </a:rPr>
              <a:t>04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60520" y="1481328"/>
            <a:ext cx="27432" cy="182880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26280" y="1417320"/>
            <a:ext cx="6583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200">
                <a:solidFill>
                  <a:srgbClr val="C8A264"/>
                </a:solidFill>
                <a:latin typeface="Noto Sans CJK SC"/>
                <a:ea typeface="Noto Sans CJK SC"/>
              </a:rPr>
              <a:t>PART 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26280" y="1783080"/>
            <a:ext cx="6766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200" b="0" i="0">
                <a:solidFill>
                  <a:srgbClr val="EEE8DC"/>
                </a:solidFill>
                <a:latin typeface="Noto Serif CJK SC"/>
                <a:ea typeface="Noto Serif CJK SC"/>
              </a:rPr>
              <a:t>一场对话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26280" y="265176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9C958A"/>
                </a:solidFill>
                <a:latin typeface="Noto Sans CJK SC"/>
                <a:ea typeface="Noto Sans CJK SC"/>
              </a:rPr>
              <a:t>把判断交回给你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2628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争议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397763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克制是分寸，还是削弱了冲击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26280" y="425195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26280" y="448055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证据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60720" y="448055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影像还能不能作为证据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26280" y="475487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6280" y="49834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记忆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60720" y="498347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C9C2B4"/>
                </a:solidFill>
                <a:latin typeface="Noto Sans CJK SC"/>
                <a:ea typeface="Noto Sans CJK SC"/>
              </a:rPr>
              <a:t>我们这代人怎么「保存底片」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26280" y="5257799"/>
            <a:ext cx="630936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留三个问题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6596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EEE8DC"/>
                </a:solidFill>
                <a:latin typeface="Noto Serif CJK SC"/>
                <a:ea typeface="Noto Serif CJK SC"/>
              </a:rPr>
              <a:t>用一间照相馆讲一场屠杀，是「取巧」，还是更有效？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880360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081528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EEE8DC"/>
                </a:solidFill>
                <a:latin typeface="Noto Serif CJK SC"/>
                <a:ea typeface="Noto Serif CJK SC"/>
              </a:rPr>
              <a:t>当照片可以被 AI 生成和修改，「影像即证据」还成立吗？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95928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885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80">
                <a:solidFill>
                  <a:srgbClr val="6E5C39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197096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EEE8DC"/>
                </a:solidFill>
                <a:latin typeface="Noto Serif CJK SC"/>
                <a:ea typeface="Noto Serif CJK SC"/>
              </a:rPr>
              <a:t>我们这代人，用什么方式「保存底片」？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111496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5321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C8A264"/>
                </a:solidFill>
                <a:latin typeface="Noto Sans CJK SC"/>
                <a:ea typeface="Noto Sans CJK SC"/>
              </a:rPr>
              <a:t>任选一个，30 秒，先讲给旁边的人听。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04 · 一场对话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69480" y="2834640"/>
            <a:ext cx="475488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0" b="0" i="0">
                <a:solidFill>
                  <a:srgbClr val="6E5C39"/>
                </a:solidFill>
                <a:latin typeface="Noto Serif CJK SC"/>
                <a:ea typeface="Noto Serif CJK SC"/>
              </a:rPr>
              <a:t>显影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200">
                <a:solidFill>
                  <a:srgbClr val="C8A264"/>
                </a:solidFill>
                <a:latin typeface="Noto Sans CJK SC"/>
                <a:ea typeface="Noto Sans CJK SC"/>
              </a:rPr>
              <a:t>结语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8595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200" b="0" i="0">
                <a:solidFill>
                  <a:srgbClr val="EEE8DC"/>
                </a:solidFill>
                <a:latin typeface="Noto Serif CJK SC"/>
                <a:ea typeface="Noto Serif CJK SC"/>
              </a:rPr>
              <a:t>记忆不会自动显影。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4612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600" b="0" i="0">
                <a:solidFill>
                  <a:srgbClr val="C9C2B4"/>
                </a:solidFill>
                <a:latin typeface="Noto Sans CJK SC"/>
                <a:ea typeface="Noto Sans CJK SC"/>
              </a:rPr>
              <a:t>它需要有人按下快门，有人守着一盏红灯，</a:t>
            </a:r>
          </a:p>
          <a:p>
            <a:pPr algn="l">
              <a:lnSpc>
                <a:spcPct val="190000"/>
              </a:lnSpc>
              <a:spcAft>
                <a:spcPts val="0"/>
              </a:spcAft>
            </a:pPr>
            <a:r>
              <a:rPr sz="1600" b="0" i="0">
                <a:solidFill>
                  <a:srgbClr val="C9C2B4"/>
                </a:solidFill>
                <a:latin typeface="Noto Sans CJK SC"/>
                <a:ea typeface="Noto Sans CJK SC"/>
              </a:rPr>
              <a:t>有人把底片带出城，也有人愿意坐下来看。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892040"/>
            <a:ext cx="91440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9C958A"/>
                </a:solidFill>
                <a:latin typeface="Noto Sans CJK SC"/>
                <a:ea typeface="Noto Sans CJK SC"/>
              </a:rPr>
              <a:t>这也是《南京照相馆》提问的方式。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035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50">
                <a:solidFill>
                  <a:srgbClr val="C8A264"/>
                </a:solidFill>
                <a:latin typeface="Noto Sans CJK SC"/>
                <a:ea typeface="Noto Sans CJK SC"/>
              </a:rPr>
              <a:t>附录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EEE8DC"/>
                </a:solidFill>
                <a:latin typeface="Noto Serif CJK SC"/>
                <a:ea typeface="Noto Serif CJK SC"/>
              </a:rPr>
              <a:t>资料来源与素材说明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777240" cy="22860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00">
                <a:solidFill>
                  <a:srgbClr val="C8A264"/>
                </a:solidFill>
                <a:latin typeface="Noto Sans CJK SC"/>
                <a:ea typeface="Noto Sans CJK SC"/>
              </a:rPr>
              <a:t>影片信息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猫眼电影 · 影片资料页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豆瓣电影 · 条目与演职人员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1905 电影网 · 影片资料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920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00">
                <a:solidFill>
                  <a:srgbClr val="C8A264"/>
                </a:solidFill>
                <a:latin typeface="Noto Sans CJK SC"/>
                <a:ea typeface="Noto Sans CJK SC"/>
              </a:rPr>
              <a:t>史实资料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40280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侵华日军南京大屠杀遇难同胞纪念馆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中国第二历史档案馆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人民法院报 · 《一本相册成为「京字第一号证据」》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920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100">
                <a:solidFill>
                  <a:srgbClr val="C8A264"/>
                </a:solidFill>
                <a:latin typeface="Noto Sans CJK SC"/>
                <a:ea typeface="Noto Sans CJK SC"/>
              </a:rPr>
              <a:t>报道与访谈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240280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人民日报海外版 · 为历史「保存底片」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新华社 · 走出影院看到的繁华中国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央视网 · 主创谈创作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环球时报 · 申奥专访</a:t>
            </a:r>
          </a:p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澎湃新闻 / 光明网 · 创作原则与影像分析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69080"/>
            <a:ext cx="10561320" cy="10972"/>
          </a:xfrm>
          <a:prstGeom prst="rect">
            <a:avLst/>
          </a:prstGeom>
          <a:solidFill>
            <a:srgbClr val="32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2452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视频素材（B 站，第三方上传，版权归片方）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5394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首支预告：BV1t2K1zgEgi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制作特辑：BV1aegizwEjD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群像预告：BV1roGTz6Eic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正片片段（背景布）：BV147h7zXErx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 spc="60">
                <a:solidFill>
                  <a:srgbClr val="C8A264"/>
                </a:solidFill>
                <a:latin typeface="Noto Sans CJK SC"/>
                <a:ea typeface="Noto Sans CJK SC"/>
              </a:rPr>
              <a:t>图片来源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5262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封面、暗房两页配图为 AI 生成的示意插画，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非影片剧照，仅用于版式示意；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00" b="0" i="0">
                <a:solidFill>
                  <a:srgbClr val="C9C2B4"/>
                </a:solidFill>
                <a:latin typeface="Noto Sans CJK SC"/>
                <a:ea typeface="Noto Sans CJK SC"/>
              </a:rPr>
              <a:t>影片画面请以官方物料为准。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 spc="60">
                <a:solidFill>
                  <a:srgbClr val="9C958A"/>
                </a:solidFill>
                <a:latin typeface="Noto Sans CJK SC"/>
                <a:ea typeface="Noto Sans CJK SC"/>
              </a:rPr>
              <a:t>附录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529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5564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1635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46703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7705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3775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6811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9846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28815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9167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19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5022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057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10928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71632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301984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32336" y="164592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2487168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5800" b="0" i="0">
                <a:solidFill>
                  <a:srgbClr val="EEE8DC"/>
                </a:solidFill>
                <a:latin typeface="Noto Serif CJK SC"/>
                <a:ea typeface="Noto Serif CJK SC"/>
              </a:rPr>
              <a:t>谢谢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3401568"/>
            <a:ext cx="1051560" cy="27432"/>
          </a:xfrm>
          <a:prstGeom prst="rect">
            <a:avLst/>
          </a:prstGeom>
          <a:solidFill>
            <a:srgbClr val="C8A2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9C2B4"/>
                </a:solidFill>
                <a:latin typeface="Noto Sans CJK SC"/>
                <a:ea typeface="Noto Sans CJK SC"/>
              </a:rPr>
              <a:t>欢迎提问、补充与不同意见。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1605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9C958A"/>
                </a:solidFill>
                <a:latin typeface="Noto Sans CJK SC"/>
                <a:ea typeface="Noto Sans CJK SC"/>
              </a:rPr>
              <a:t>建议完整观看全片后再讨论——它值得那 137 分钟。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2461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00" b="0" i="0" spc="260">
                <a:solidFill>
                  <a:srgbClr val="C8A264"/>
                </a:solidFill>
                <a:latin typeface="Noto Sans CJK SC"/>
                <a:ea typeface="Noto Sans CJK SC"/>
              </a:rPr>
              <a:t>Q &amp; 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459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494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2529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75564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8600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1635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6703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7705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0740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93775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6811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9846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28815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059167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89519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19871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5022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8057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710928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241280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771632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301984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32336" y="6574536"/>
            <a:ext cx="237744" cy="118872"/>
          </a:xfrm>
          <a:prstGeom prst="rect">
            <a:avLst/>
          </a:prstGeom>
          <a:solidFill>
            <a:srgbClr val="C8A264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21240" y="6382512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850" b="0" i="0" spc="40">
                <a:solidFill>
                  <a:srgbClr val="9C958A"/>
                </a:solidFill>
                <a:latin typeface="Noto Sans CJK SC"/>
                <a:ea typeface="Noto Sans CJK SC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