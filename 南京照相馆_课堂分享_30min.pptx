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【00:00–00:30】开场。自我介绍一句话，然后直接进入：今天不讲宏大历史，只讲一间很小的照相馆，和一卷底片。</a:t>
            </a:r>
          </a:p>
          <a:p>
            <a:r>
              <a:t>封面使用影片官方海报，版权归片方，课堂引用仅作分析。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【00:30–01:10】四个部分：故事、史实、影像、讨论。说明节奏——前面快，后面留问题给大家。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【01:10–02:50】抛出问题，停 20 秒，请 1–2 位同学回答。回应后点题：一张照片能证明什么、能留下什么，正是整部影片的起点。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【02:50–04:20】快速过档案：三件事最重要——137 分钟、30 亿票房、豆瓣 8.6；奖项一句话带过，说明它是 2025 年暑期档的现象级作品。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【04:20–06:20】复述故事线：躲—洗—送。强调它不是战争大片，而是一个封闭空间里的选择故事。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【06:20–08:10】人物逐个一句话。重点停在阿昌（视角人物）和老金（相馆主人）；王广海先标记，后面单独一页展开。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【08:10】过渡：故事是虚构的，但底下压着一本真实的相册。接下来讲史实，语气会放慢。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【08:10–09:40】语气放慢。三个数字不要念得太快；点出「30 万」是纪念馆的表述。再落到创作原则：不靠血腥，靠证据。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【09:40–11:20】罗瑾的故事，重音在「15 岁」和「16 张」。解释封面：两颗心、一把刀、一个「耻」字——一个少年能做的最大反抗，是把证据留下来。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【11:20–12:50】沿时间轴讲：制作—守护—呈交—审判—重逢。1995 年重逢是情感落点，可以稍停。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【12:50–14:20】解释为什么把两个少年合成一个主角：电影需要一张脸、一个视角。强调「合并」不等于「篡改」。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【14:20–16:20】播放前说明：以下为影片公开预告物料，画面版权归片方所有，课堂引用仅作分析。</a:t>
            </a:r>
          </a:p>
          <a:p>
            <a:r>
              <a:t>视频已内嵌：点击画面即可播放（1 分 34 秒）。</a:t>
            </a:r>
          </a:p>
          <a:p/>
          <a:p>
            <a:r>
              <a:t>若需更换：右键画面 → 更改媒体 → 选择新的 mp4（建议 H.264 编码，HEVC 在部分 PowerPoint 上无法播放）。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【16:20】过渡：史实讲完，回到电影本身——它是怎么把这些「显影」出来的。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【16:20–17:50】提出核心观察：最暖的光来自最残酷的房间——暗房。这是影片的视觉隐喻：显影，就是把黑暗里的东西拿出来。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【17:50–19:10】这是全片情绪转折点：手绘「洋片」背景布（当时照相馆的常见道具）一展开，颜色突然饱和，故宫、西湖、长城的红与绿冲出来。此处可停两秒让大家看色块。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【19:10–20:20】方言是可考的创作选择，引导演原话；静默与环境声属于观影分析，说明这是我自己的观察。提醒：不要把所有解读都当成导演原意。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【20:20–21:40】全片核心论点。三问依次讲：拍摄者、冲洗者、观看者。顺带说明：这也是片名的意义——照相馆不是背景，是战场。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【21:40–22:40】王广海是反面参照。不要把他讲成简单的坏人——他的可怕在于「很合理」。顺势把问题抛给听众，为最后讨论做铺垫。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【22:40–23:40】讲克制：不展示、不煽动、不消费。同时主动提出争议——「不够狠」的评价真实存在，这页不站队，留给讨论。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【23:40–24:30】数据快速过。重点不是数字，而是「严肃题材进入大众档期」这件事。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【24:30–25:20】这页是全片落点：电影把对照交给了现实。可以问一句：你走出影院时，看到的是什么？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【25:20–26:40】制作特辑已内嵌（3 分 47 秒），建议只播放前 1 分钟（置景与实景还原），讲完「真实感不是特效，是有人真的把街道造了出来」后切页。</a:t>
            </a:r>
          </a:p>
          <a:p/>
          <a:p>
            <a:r>
              <a:t>若要精确截断：选中视频 → 播放 → 修剪视频，把结束点拖到 1:00；或直接用剪映/ffmpeg 导出 1 分钟版本后替换。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【26:40】过渡：最后一部分不讲结论，留三个问题给大家。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【26:40–28:10】留 30–60 秒同桌交流，然后请 2 位同学分享。第二个问题可结合 AI 生成图片展开，呼应本次分享里「示意图」的处理。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【28:10–28:50】收束情绪，语速放慢。不要喊口号，停在「记忆需要有人冲洗」这句。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【28:50–29:10】不逐条念。口头说明：数据与史实均来自公开报道与纪念馆资料，配图均为影片公开物料（海报与剧照），视频为 B 站第三方上传、版权归片方。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【29:10–30:00】收尾：留 1–2 个问题的时间。若时间不够，直接进入互动，把资料页留给会后。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7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2.xml"/><Relationship Id="rId4" Type="http://schemas.microsoft.com/office/2007/relationships/media" Target="../media/media1.mp4"/><Relationship Id="rId5" Type="http://schemas.openxmlformats.org/officeDocument/2006/relationships/video" Target="../media/media1.mp4"/><Relationship Id="rId6" Type="http://schemas.openxmlformats.org/officeDocument/2006/relationships/image" Target="../media/image5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14.xml"/><Relationship Id="rId4" Type="http://schemas.openxmlformats.org/officeDocument/2006/relationships/image" Target="../media/image10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22.xml"/><Relationship Id="rId4" Type="http://schemas.microsoft.com/office/2007/relationships/media" Target="../media/media2.mp4"/><Relationship Id="rId5" Type="http://schemas.openxmlformats.org/officeDocument/2006/relationships/video" Target="../media/media2.mp4"/><Relationship Id="rId6" Type="http://schemas.openxmlformats.org/officeDocument/2006/relationships/image" Target="../media/image6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B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TextBox 5"/>
          <p:cNvSpPr txBox="1"/>
          <p:nvPr/>
        </p:nvSpPr>
        <p:spPr>
          <a:xfrm>
            <a:off x="822960" y="117043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 i="0" spc="220">
                <a:solidFill>
                  <a:srgbClr val="C8A264"/>
                </a:solidFill>
                <a:latin typeface="Noto Sans CJK SC"/>
                <a:ea typeface="Noto Sans CJK SC"/>
              </a:rPr>
              <a:t>影片分析 · 课堂分享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572768"/>
            <a:ext cx="6949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0" b="0" i="0">
                <a:solidFill>
                  <a:srgbClr val="EEE8DC"/>
                </a:solidFill>
                <a:latin typeface="Noto Serif CJK SC"/>
                <a:ea typeface="Noto Serif CJK SC"/>
              </a:rPr>
              <a:t>南京照相馆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2788920"/>
            <a:ext cx="1051560" cy="27432"/>
          </a:xfrm>
          <a:prstGeom prst="rect">
            <a:avLst/>
          </a:prstGeom>
          <a:solidFill>
            <a:srgbClr val="C8A2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999232"/>
            <a:ext cx="6583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900" b="0" i="0">
                <a:solidFill>
                  <a:srgbClr val="C9C2B4"/>
                </a:solidFill>
                <a:latin typeface="Noto Serif CJK SC"/>
                <a:ea typeface="Noto Serif CJK SC"/>
              </a:rPr>
              <a:t>一间相馆，一卷底片，一座城的记忆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703320"/>
            <a:ext cx="6583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 i="0" spc="60">
                <a:solidFill>
                  <a:srgbClr val="9C958A"/>
                </a:solidFill>
                <a:latin typeface="Noto Sans CJK SC"/>
                <a:ea typeface="Noto Sans CJK SC"/>
              </a:rPr>
              <a:t>Dead To Rights ｜ 申奥 执导 ｜ 2025 ｜ 137 分钟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5687568"/>
            <a:ext cx="2926080" cy="10972"/>
          </a:xfrm>
          <a:prstGeom prst="rect">
            <a:avLst/>
          </a:prstGeom>
          <a:solidFill>
            <a:srgbClr val="322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5815584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 i="0">
                <a:solidFill>
                  <a:srgbClr val="9C958A"/>
                </a:solidFill>
                <a:latin typeface="Noto Sans CJK SC"/>
                <a:ea typeface="Noto Sans CJK SC"/>
              </a:rPr>
              <a:t>汇报人：＿＿＿＿　　　2026 年 10 月</a:t>
            </a:r>
          </a:p>
        </p:txBody>
      </p:sp>
      <p:pic>
        <p:nvPicPr>
          <p:cNvPr id="15" name="Picture 14" descr="image16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0768" y="1170432"/>
            <a:ext cx="2468880" cy="370332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8403336" y="1143000"/>
            <a:ext cx="2523744" cy="3758184"/>
          </a:xfrm>
          <a:prstGeom prst="rect">
            <a:avLst/>
          </a:prstGeom>
          <a:noFill/>
          <a:ln w="11430">
            <a:solidFill>
              <a:srgbClr val="6E5C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0768" y="4974336"/>
            <a:ext cx="3017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spc="40">
                <a:solidFill>
                  <a:srgbClr val="9C958A"/>
                </a:solidFill>
                <a:latin typeface="Noto Sans CJK SC"/>
                <a:ea typeface="Noto Sans CJK SC"/>
              </a:rPr>
              <a:t>官方海报 ｜ 版权归片方所有</a:t>
            </a:r>
          </a:p>
        </p:txBody>
      </p:sp>
      <p:sp>
        <p:nvSpPr>
          <p:cNvPr id="18" name="AILabel"/>
          <p:cNvSpPr txBox="1"/>
          <p:nvPr/>
        </p:nvSpPr>
        <p:spPr>
          <a:xfrm>
            <a:off x="9611695" y="6278000"/>
            <a:ext cx="2400000" cy="400000"/>
          </a:xfrm>
          <a:prstGeom prst="rect">
            <a:avLst/>
          </a:prstGeom>
          <a:solidFill>
            <a:srgbClr val="000000">
              <a:alpha val="50000"/>
            </a:srgbClr>
          </a:solidFill>
          <a:ln w="12700">
            <a:solidFill>
              <a:srgbClr val="FFFFFF"/>
            </a:solidFill>
          </a:ln>
        </p:spPr>
        <p:txBody>
          <a:bodyPr wrap="square" rtlCol="0" anchor="ctr" lIns="91440" tIns="45720" rIns="91440" bIns="45720"/>
          <a:lstStyle/>
          <a:p>
            <a:pPr algn="ctr"/>
            <a:r>
              <a:rPr lang="zh-CN" sz="1400" b="1" dirty="0">
                <a:solidFill>
                  <a:srgbClr val="FFFFFF"/>
                </a:solidFill>
                <a:latin typeface="Arial"/>
                <a:ea typeface="SimSun"/>
              </a:rPr>
              <a:t>含 AI 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B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03504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0" i="0" spc="150">
                <a:solidFill>
                  <a:srgbClr val="C8A264"/>
                </a:solidFill>
                <a:latin typeface="Noto Sans CJK SC"/>
                <a:ea typeface="Noto Sans CJK SC"/>
              </a:rPr>
              <a:t>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96112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0" i="0">
                <a:solidFill>
                  <a:srgbClr val="EEE8DC"/>
                </a:solidFill>
                <a:latin typeface="Noto Serif CJK SC"/>
                <a:ea typeface="Noto Serif CJK SC"/>
              </a:rPr>
              <a:t>今天聊四个词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645920"/>
            <a:ext cx="777240" cy="22860"/>
          </a:xfrm>
          <a:prstGeom prst="rect">
            <a:avLst/>
          </a:prstGeom>
          <a:solidFill>
            <a:srgbClr val="C8A2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002536"/>
            <a:ext cx="822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100" b="0" i="0">
                <a:solidFill>
                  <a:srgbClr val="C8A264"/>
                </a:solidFill>
                <a:latin typeface="Noto Serif CJK SC"/>
                <a:ea typeface="Noto Serif CJK SC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" y="1965960"/>
            <a:ext cx="58521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400" b="0" i="0">
                <a:solidFill>
                  <a:srgbClr val="EEE8DC"/>
                </a:solidFill>
                <a:latin typeface="Noto Serif CJK SC"/>
                <a:ea typeface="Noto Serif CJK SC"/>
              </a:rPr>
              <a:t>一间相馆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2404872"/>
            <a:ext cx="6035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9C958A"/>
                </a:solidFill>
                <a:latin typeface="Noto Sans CJK SC"/>
                <a:ea typeface="Noto Sans CJK SC"/>
              </a:rPr>
              <a:t>七个普通人，一百三十七分钟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926080"/>
            <a:ext cx="7498079" cy="10972"/>
          </a:xfrm>
          <a:prstGeom prst="rect">
            <a:avLst/>
          </a:prstGeom>
          <a:solidFill>
            <a:srgbClr val="322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099815"/>
            <a:ext cx="822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100" b="0" i="0">
                <a:solidFill>
                  <a:srgbClr val="C8A264"/>
                </a:solidFill>
                <a:latin typeface="Noto Serif CJK SC"/>
                <a:ea typeface="Noto Serif CJK SC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3063239"/>
            <a:ext cx="58521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400" b="0" i="0">
                <a:solidFill>
                  <a:srgbClr val="EEE8DC"/>
                </a:solidFill>
                <a:latin typeface="Noto Serif CJK SC"/>
                <a:ea typeface="Noto Serif CJK SC"/>
              </a:rPr>
              <a:t>一段史实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3502151"/>
            <a:ext cx="6035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9C958A"/>
                </a:solidFill>
                <a:latin typeface="Noto Sans CJK SC"/>
                <a:ea typeface="Noto Sans CJK SC"/>
              </a:rPr>
              <a:t>1937 年冬天，和一本真实的相册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023359"/>
            <a:ext cx="7498079" cy="10972"/>
          </a:xfrm>
          <a:prstGeom prst="rect">
            <a:avLst/>
          </a:prstGeom>
          <a:solidFill>
            <a:srgbClr val="322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197096"/>
            <a:ext cx="822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100" b="0" i="0">
                <a:solidFill>
                  <a:srgbClr val="C8A264"/>
                </a:solidFill>
                <a:latin typeface="Noto Serif CJK SC"/>
                <a:ea typeface="Noto Serif CJK SC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4160520"/>
            <a:ext cx="58521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400" b="0" i="0">
                <a:solidFill>
                  <a:srgbClr val="EEE8DC"/>
                </a:solidFill>
                <a:latin typeface="Noto Serif CJK SC"/>
                <a:ea typeface="Noto Serif CJK SC"/>
              </a:rPr>
              <a:t>一次显影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4599431"/>
            <a:ext cx="6035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9C958A"/>
                </a:solidFill>
                <a:latin typeface="Noto Sans CJK SC"/>
                <a:ea typeface="Noto Sans CJK SC"/>
              </a:rPr>
              <a:t>冷色、红光、一卷手绘山河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5120640"/>
            <a:ext cx="7498079" cy="10972"/>
          </a:xfrm>
          <a:prstGeom prst="rect">
            <a:avLst/>
          </a:prstGeom>
          <a:solidFill>
            <a:srgbClr val="322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5294376"/>
            <a:ext cx="822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100" b="0" i="0">
                <a:solidFill>
                  <a:srgbClr val="C8A264"/>
                </a:solidFill>
                <a:latin typeface="Noto Serif CJK SC"/>
                <a:ea typeface="Noto Serif CJK SC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5257800"/>
            <a:ext cx="58521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400" b="0" i="0">
                <a:solidFill>
                  <a:srgbClr val="EEE8DC"/>
                </a:solidFill>
                <a:latin typeface="Noto Serif CJK SC"/>
                <a:ea typeface="Noto Serif CJK SC"/>
              </a:rPr>
              <a:t>一场对话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5696712"/>
            <a:ext cx="6035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9C958A"/>
                </a:solidFill>
                <a:latin typeface="Noto Sans CJK SC"/>
                <a:ea typeface="Noto Sans CJK SC"/>
              </a:rPr>
              <a:t>票房、争议，和三个留给大家的问题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6217920"/>
            <a:ext cx="7498079" cy="10972"/>
          </a:xfrm>
          <a:prstGeom prst="rect">
            <a:avLst/>
          </a:prstGeom>
          <a:solidFill>
            <a:srgbClr val="322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732520" y="1965960"/>
            <a:ext cx="18288" cy="2834640"/>
          </a:xfrm>
          <a:prstGeom prst="rect">
            <a:avLst/>
          </a:prstGeom>
          <a:solidFill>
            <a:srgbClr val="322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98280" y="1993392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 i="0" spc="140">
                <a:solidFill>
                  <a:srgbClr val="C8A264"/>
                </a:solidFill>
                <a:latin typeface="Noto Sans CJK SC"/>
                <a:ea typeface="Noto Sans CJK SC"/>
              </a:rPr>
              <a:t>本次分享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2331720"/>
            <a:ext cx="237744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90000"/>
              </a:lnSpc>
              <a:spcAft>
                <a:spcPts val="0"/>
              </a:spcAft>
            </a:pPr>
            <a:r>
              <a:rPr sz="1200" b="0" i="0">
                <a:solidFill>
                  <a:srgbClr val="C9C2B4"/>
                </a:solidFill>
                <a:latin typeface="Noto Sans CJK SC"/>
                <a:ea typeface="Noto Sans CJK SC"/>
              </a:rPr>
              <a:t>约 30 分钟</a:t>
            </a:r>
          </a:p>
          <a:p>
            <a:pPr algn="l">
              <a:lnSpc>
                <a:spcPct val="190000"/>
              </a:lnSpc>
              <a:spcAft>
                <a:spcPts val="0"/>
              </a:spcAft>
            </a:pPr>
            <a:r>
              <a:rPr sz="1200" b="0" i="0">
                <a:solidFill>
                  <a:srgbClr val="C9C2B4"/>
                </a:solidFill>
                <a:latin typeface="Noto Sans CJK SC"/>
                <a:ea typeface="Noto Sans CJK SC"/>
              </a:rPr>
              <a:t>27 页</a:t>
            </a:r>
          </a:p>
          <a:p>
            <a:pPr algn="l">
              <a:lnSpc>
                <a:spcPct val="190000"/>
              </a:lnSpc>
              <a:spcAft>
                <a:spcPts val="0"/>
              </a:spcAft>
            </a:pPr>
            <a:r>
              <a:rPr sz="1200" b="0" i="0">
                <a:solidFill>
                  <a:srgbClr val="C9C2B4"/>
                </a:solidFill>
                <a:latin typeface="Noto Sans CJK SC"/>
                <a:ea typeface="Noto Sans CJK SC"/>
              </a:rPr>
              <a:t>2 段视频</a:t>
            </a:r>
          </a:p>
          <a:p>
            <a:pPr algn="l">
              <a:lnSpc>
                <a:spcPct val="190000"/>
              </a:lnSpc>
              <a:spcAft>
                <a:spcPts val="0"/>
              </a:spcAft>
            </a:pPr>
            <a:r>
              <a:rPr sz="1200" b="0" i="0">
                <a:solidFill>
                  <a:srgbClr val="C9C2B4"/>
                </a:solidFill>
                <a:latin typeface="Noto Sans CJK SC"/>
                <a:ea typeface="Noto Sans CJK SC"/>
              </a:rPr>
              <a:t>3 个讨论问题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382512"/>
            <a:ext cx="6400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50" b="0" i="0" spc="60">
                <a:solidFill>
                  <a:srgbClr val="9C958A"/>
                </a:solidFill>
                <a:latin typeface="Noto Sans CJK SC"/>
                <a:ea typeface="Noto Sans CJK SC"/>
              </a:rPr>
              <a:t>CONTENTS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21240" y="6382512"/>
            <a:ext cx="149047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850" b="0" i="0" spc="40">
                <a:solidFill>
                  <a:srgbClr val="9C958A"/>
                </a:solidFill>
                <a:latin typeface="Noto Sans CJK SC"/>
                <a:ea typeface="Noto Sans CJK SC"/>
              </a:rPr>
              <a:t>02 / 27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B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195560" y="1417320"/>
            <a:ext cx="18288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0" b="0" i="0">
                <a:solidFill>
                  <a:srgbClr val="6E5C39"/>
                </a:solidFill>
                <a:latin typeface="Noto Serif CJK SC"/>
                <a:ea typeface="Noto Serif CJK SC"/>
              </a:rPr>
              <a:t>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74519"/>
            <a:ext cx="8595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0" i="0" spc="200">
                <a:solidFill>
                  <a:srgbClr val="C8A264"/>
                </a:solidFill>
                <a:latin typeface="Noto Sans CJK SC"/>
                <a:ea typeface="Noto Sans CJK SC"/>
              </a:rPr>
              <a:t>开场提问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331720"/>
            <a:ext cx="996696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4000" b="0" i="0">
                <a:solidFill>
                  <a:srgbClr val="EEE8DC"/>
                </a:solidFill>
                <a:latin typeface="Noto Serif CJK SC"/>
                <a:ea typeface="Noto Serif CJK SC"/>
              </a:rPr>
              <a:t>如果只能带走一张照片，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4000" b="0" i="0">
                <a:solidFill>
                  <a:srgbClr val="EEE8DC"/>
                </a:solidFill>
                <a:latin typeface="Noto Serif CJK SC"/>
                <a:ea typeface="Noto Serif CJK SC"/>
              </a:rPr>
              <a:t>你会带走哪一张？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4526280"/>
            <a:ext cx="777240" cy="22860"/>
          </a:xfrm>
          <a:prstGeom prst="rect">
            <a:avLst/>
          </a:prstGeom>
          <a:solidFill>
            <a:srgbClr val="C8A2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754880"/>
            <a:ext cx="9875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 i="0">
                <a:solidFill>
                  <a:srgbClr val="C9C2B4"/>
                </a:solidFill>
                <a:latin typeface="Noto Sans CJK SC"/>
                <a:ea typeface="Noto Sans CJK SC"/>
              </a:rPr>
              <a:t>这是影片替我们问出的问题——也是我想先问大家的问题。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806440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 i="0">
                <a:solidFill>
                  <a:srgbClr val="9C958A"/>
                </a:solidFill>
                <a:latin typeface="Noto Sans CJK SC"/>
                <a:ea typeface="Noto Sans CJK SC"/>
              </a:rPr>
              <a:t>先给 30 秒，请两位同学回答；不急着给结论。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B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03504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0" i="0" spc="150">
                <a:solidFill>
                  <a:srgbClr val="C8A264"/>
                </a:solidFill>
                <a:latin typeface="Noto Sans CJK SC"/>
                <a:ea typeface="Noto Sans CJK SC"/>
              </a:rPr>
              <a:t>01 · 一间相馆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96112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0" i="0">
                <a:solidFill>
                  <a:srgbClr val="EEE8DC"/>
                </a:solidFill>
                <a:latin typeface="Noto Serif CJK SC"/>
                <a:ea typeface="Noto Serif CJK SC"/>
              </a:rPr>
              <a:t>影片档案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645920"/>
            <a:ext cx="777240" cy="22860"/>
          </a:xfrm>
          <a:prstGeom prst="rect">
            <a:avLst/>
          </a:prstGeom>
          <a:solidFill>
            <a:srgbClr val="C8A2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3852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 i="0" spc="40">
                <a:solidFill>
                  <a:srgbClr val="C8A264"/>
                </a:solidFill>
                <a:latin typeface="Noto Sans CJK SC"/>
                <a:ea typeface="Noto Sans CJK SC"/>
              </a:rPr>
              <a:t>片名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48840" y="1911096"/>
            <a:ext cx="48463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 i="0">
                <a:solidFill>
                  <a:srgbClr val="C9C2B4"/>
                </a:solidFill>
                <a:latin typeface="Noto Sans CJK SC"/>
                <a:ea typeface="Noto Sans CJK SC"/>
              </a:rPr>
              <a:t>《南京照相馆》／又名《吉祥照相馆》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249424"/>
            <a:ext cx="6172200" cy="10972"/>
          </a:xfrm>
          <a:prstGeom prst="rect">
            <a:avLst/>
          </a:prstGeom>
          <a:solidFill>
            <a:srgbClr val="322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340864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 i="0" spc="40">
                <a:solidFill>
                  <a:srgbClr val="C8A264"/>
                </a:solidFill>
                <a:latin typeface="Noto Sans CJK SC"/>
                <a:ea typeface="Noto Sans CJK SC"/>
              </a:rPr>
              <a:t>导演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48840" y="2313432"/>
            <a:ext cx="48463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 i="0">
                <a:solidFill>
                  <a:srgbClr val="C9C2B4"/>
                </a:solidFill>
                <a:latin typeface="Noto Sans CJK SC"/>
                <a:ea typeface="Noto Sans CJK SC"/>
              </a:rPr>
              <a:t>申奥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651760"/>
            <a:ext cx="6172200" cy="10972"/>
          </a:xfrm>
          <a:prstGeom prst="rect">
            <a:avLst/>
          </a:prstGeom>
          <a:solidFill>
            <a:srgbClr val="322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7432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 i="0" spc="40">
                <a:solidFill>
                  <a:srgbClr val="C8A264"/>
                </a:solidFill>
                <a:latin typeface="Noto Sans CJK SC"/>
                <a:ea typeface="Noto Sans CJK SC"/>
              </a:rPr>
              <a:t>编剧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2715768"/>
            <a:ext cx="48463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 i="0">
                <a:solidFill>
                  <a:srgbClr val="C9C2B4"/>
                </a:solidFill>
                <a:latin typeface="Noto Sans CJK SC"/>
                <a:ea typeface="Noto Sans CJK SC"/>
              </a:rPr>
              <a:t>许渌洋、张珂、申奥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054096"/>
            <a:ext cx="6172200" cy="10972"/>
          </a:xfrm>
          <a:prstGeom prst="rect">
            <a:avLst/>
          </a:prstGeom>
          <a:solidFill>
            <a:srgbClr val="322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145536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 i="0" spc="40">
                <a:solidFill>
                  <a:srgbClr val="C8A264"/>
                </a:solidFill>
                <a:latin typeface="Noto Sans CJK SC"/>
                <a:ea typeface="Noto Sans CJK SC"/>
              </a:rPr>
              <a:t>领衔主演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48840" y="3118104"/>
            <a:ext cx="48463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 i="0">
                <a:solidFill>
                  <a:srgbClr val="C9C2B4"/>
                </a:solidFill>
                <a:latin typeface="Noto Sans CJK SC"/>
                <a:ea typeface="Noto Sans CJK SC"/>
              </a:rPr>
              <a:t>刘昊然、王传君、高叶、王骁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3456432"/>
            <a:ext cx="6172200" cy="10972"/>
          </a:xfrm>
          <a:prstGeom prst="rect">
            <a:avLst/>
          </a:prstGeom>
          <a:solidFill>
            <a:srgbClr val="322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54787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 i="0" spc="40">
                <a:solidFill>
                  <a:srgbClr val="C8A264"/>
                </a:solidFill>
                <a:latin typeface="Noto Sans CJK SC"/>
                <a:ea typeface="Noto Sans CJK SC"/>
              </a:rPr>
              <a:t>类型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48840" y="3520440"/>
            <a:ext cx="48463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 i="0">
                <a:solidFill>
                  <a:srgbClr val="C9C2B4"/>
                </a:solidFill>
                <a:latin typeface="Noto Sans CJK SC"/>
                <a:ea typeface="Noto Sans CJK SC"/>
              </a:rPr>
              <a:t>剧情 / 历史 / 战争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858768"/>
            <a:ext cx="6172200" cy="10972"/>
          </a:xfrm>
          <a:prstGeom prst="rect">
            <a:avLst/>
          </a:prstGeom>
          <a:solidFill>
            <a:srgbClr val="322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95020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 i="0" spc="40">
                <a:solidFill>
                  <a:srgbClr val="C8A264"/>
                </a:solidFill>
                <a:latin typeface="Noto Sans CJK SC"/>
                <a:ea typeface="Noto Sans CJK SC"/>
              </a:rPr>
              <a:t>片长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48840" y="3922776"/>
            <a:ext cx="48463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 i="0">
                <a:solidFill>
                  <a:srgbClr val="C9C2B4"/>
                </a:solidFill>
                <a:latin typeface="Noto Sans CJK SC"/>
                <a:ea typeface="Noto Sans CJK SC"/>
              </a:rPr>
              <a:t>137 分钟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261104"/>
            <a:ext cx="6172200" cy="10972"/>
          </a:xfrm>
          <a:prstGeom prst="rect">
            <a:avLst/>
          </a:prstGeom>
          <a:solidFill>
            <a:srgbClr val="322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352544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 i="0" spc="40">
                <a:solidFill>
                  <a:srgbClr val="C8A264"/>
                </a:solidFill>
                <a:latin typeface="Noto Sans CJK SC"/>
                <a:ea typeface="Noto Sans CJK SC"/>
              </a:rPr>
              <a:t>上映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48840" y="4325112"/>
            <a:ext cx="48463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 i="0">
                <a:solidFill>
                  <a:srgbClr val="C9C2B4"/>
                </a:solidFill>
                <a:latin typeface="Noto Sans CJK SC"/>
                <a:ea typeface="Noto Sans CJK SC"/>
              </a:rPr>
              <a:t>2025 年 7 月 25 日（中国大陆）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4663440"/>
            <a:ext cx="6172200" cy="10972"/>
          </a:xfrm>
          <a:prstGeom prst="rect">
            <a:avLst/>
          </a:prstGeom>
          <a:solidFill>
            <a:srgbClr val="322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47548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 i="0" spc="40">
                <a:solidFill>
                  <a:srgbClr val="C8A264"/>
                </a:solidFill>
                <a:latin typeface="Noto Sans CJK SC"/>
                <a:ea typeface="Noto Sans CJK SC"/>
              </a:rPr>
              <a:t>票房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48840" y="4727448"/>
            <a:ext cx="48463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 i="0">
                <a:solidFill>
                  <a:srgbClr val="C9C2B4"/>
                </a:solidFill>
                <a:latin typeface="Noto Sans CJK SC"/>
                <a:ea typeface="Noto Sans CJK SC"/>
              </a:rPr>
              <a:t>30 亿元以上（截至 2025 年 9 月）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5065776"/>
            <a:ext cx="6172200" cy="10972"/>
          </a:xfrm>
          <a:prstGeom prst="rect">
            <a:avLst/>
          </a:prstGeom>
          <a:solidFill>
            <a:srgbClr val="322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452360" y="1938528"/>
            <a:ext cx="3977639" cy="2880360"/>
          </a:xfrm>
          <a:prstGeom prst="rect">
            <a:avLst/>
          </a:prstGeom>
          <a:solidFill>
            <a:srgbClr val="1817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452360" y="1938528"/>
            <a:ext cx="27432" cy="2880360"/>
          </a:xfrm>
          <a:prstGeom prst="rect">
            <a:avLst/>
          </a:prstGeom>
          <a:solidFill>
            <a:srgbClr val="C8A2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18120" y="2176272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 i="0" spc="80">
                <a:solidFill>
                  <a:srgbClr val="C8A264"/>
                </a:solidFill>
                <a:latin typeface="Noto Sans CJK SC"/>
                <a:ea typeface="Noto Sans CJK SC"/>
              </a:rPr>
              <a:t>第 20 届 长春电影节 · 金鹿奖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18120" y="2487168"/>
            <a:ext cx="32918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500" b="0" i="0">
                <a:solidFill>
                  <a:srgbClr val="EEE8DC"/>
                </a:solidFill>
                <a:latin typeface="Noto Serif CJK SC"/>
                <a:ea typeface="Noto Serif CJK SC"/>
              </a:rPr>
              <a:t>最佳影片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500" b="0" i="0">
                <a:solidFill>
                  <a:srgbClr val="EEE8DC"/>
                </a:solidFill>
                <a:latin typeface="Noto Serif CJK SC"/>
                <a:ea typeface="Noto Serif CJK SC"/>
              </a:rPr>
              <a:t>最佳导演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500" b="0" i="0">
                <a:solidFill>
                  <a:srgbClr val="EEE8DC"/>
                </a:solidFill>
                <a:latin typeface="Noto Serif CJK SC"/>
                <a:ea typeface="Noto Serif CJK SC"/>
              </a:rPr>
              <a:t>最佳编剧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18120" y="3822191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 i="0">
                <a:solidFill>
                  <a:srgbClr val="9C958A"/>
                </a:solidFill>
                <a:latin typeface="Noto Sans CJK SC"/>
                <a:ea typeface="Noto Sans CJK SC"/>
              </a:rPr>
              <a:t>2025.08.28 ｜ 豆瓣 8.6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544068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50" b="0" i="0">
                <a:solidFill>
                  <a:srgbClr val="9C958A"/>
                </a:solidFill>
                <a:latin typeface="Noto Sans CJK SC"/>
                <a:ea typeface="Noto Sans CJK SC"/>
              </a:rPr>
              <a:t>数据来源：猫眼电影、豆瓣电影、1905 电影网及媒体报道，截至 2025 年 9 月。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6382512"/>
            <a:ext cx="6400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50" b="0" i="0" spc="60">
                <a:solidFill>
                  <a:srgbClr val="9C958A"/>
                </a:solidFill>
                <a:latin typeface="Noto Sans CJK SC"/>
                <a:ea typeface="Noto Sans CJK SC"/>
              </a:rPr>
              <a:t>01 · 一间相馆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21240" y="6382512"/>
            <a:ext cx="149047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850" b="0" i="0" spc="40">
                <a:solidFill>
                  <a:srgbClr val="9C958A"/>
                </a:solidFill>
                <a:latin typeface="Noto Sans CJK SC"/>
                <a:ea typeface="Noto Sans CJK SC"/>
              </a:rPr>
              <a:t>04 / 27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B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03504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0" i="0" spc="150">
                <a:solidFill>
                  <a:srgbClr val="C8A264"/>
                </a:solidFill>
                <a:latin typeface="Noto Sans CJK SC"/>
                <a:ea typeface="Noto Sans CJK SC"/>
              </a:rPr>
              <a:t>01 · 一间相馆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96112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0" i="0">
                <a:solidFill>
                  <a:srgbClr val="EEE8DC"/>
                </a:solidFill>
                <a:latin typeface="Noto Serif CJK SC"/>
                <a:ea typeface="Noto Serif CJK SC"/>
              </a:rPr>
              <a:t>一句话，和三幕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645920"/>
            <a:ext cx="777240" cy="22860"/>
          </a:xfrm>
          <a:prstGeom prst="rect">
            <a:avLst/>
          </a:prstGeom>
          <a:solidFill>
            <a:srgbClr val="C8A2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20240"/>
            <a:ext cx="105156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2100" b="0" i="0">
                <a:solidFill>
                  <a:srgbClr val="EEE8DC"/>
                </a:solidFill>
                <a:latin typeface="Noto Serif CJK SC"/>
                <a:ea typeface="Noto Serif CJK SC"/>
              </a:rPr>
              <a:t>1937 年冬，七个躲进吉祥照相馆的普通人，被迫替日军冲洗底片——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2100" b="0" i="0">
                <a:solidFill>
                  <a:srgbClr val="EEE8DC"/>
                </a:solidFill>
                <a:latin typeface="Noto Serif CJK SC"/>
                <a:ea typeface="Noto Serif CJK SC"/>
              </a:rPr>
              <a:t>却冲出了屠城的证据。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3520440"/>
            <a:ext cx="3246120" cy="10972"/>
          </a:xfrm>
          <a:prstGeom prst="rect">
            <a:avLst/>
          </a:prstGeom>
          <a:solidFill>
            <a:srgbClr val="322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3639312"/>
            <a:ext cx="3108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 i="0">
                <a:solidFill>
                  <a:srgbClr val="C8A264"/>
                </a:solidFill>
                <a:latin typeface="Noto Serif CJK SC"/>
                <a:ea typeface="Noto Serif CJK SC"/>
              </a:rPr>
              <a:t>第一幕 · 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069080"/>
            <a:ext cx="3035808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  <a:spcAft>
                <a:spcPts val="0"/>
              </a:spcAft>
            </a:pPr>
            <a:r>
              <a:rPr sz="1350" b="0" i="0">
                <a:solidFill>
                  <a:srgbClr val="C9C2B4"/>
                </a:solidFill>
                <a:latin typeface="Noto Sans CJK SC"/>
                <a:ea typeface="Noto Sans CJK SC"/>
              </a:rPr>
              <a:t>相馆成为孤岛：七个人，只有两张通行证。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233672" y="3520440"/>
            <a:ext cx="3246120" cy="10972"/>
          </a:xfrm>
          <a:prstGeom prst="rect">
            <a:avLst/>
          </a:prstGeom>
          <a:solidFill>
            <a:srgbClr val="322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33672" y="3639312"/>
            <a:ext cx="3108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 i="0">
                <a:solidFill>
                  <a:srgbClr val="C8A264"/>
                </a:solidFill>
                <a:latin typeface="Noto Serif CJK SC"/>
                <a:ea typeface="Noto Serif CJK SC"/>
              </a:rPr>
              <a:t>第二幕 · 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33672" y="4069080"/>
            <a:ext cx="3035808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  <a:spcAft>
                <a:spcPts val="0"/>
              </a:spcAft>
            </a:pPr>
            <a:r>
              <a:rPr sz="1350" b="0" i="0">
                <a:solidFill>
                  <a:srgbClr val="C9C2B4"/>
                </a:solidFill>
                <a:latin typeface="Noto Sans CJK SC"/>
                <a:ea typeface="Noto Sans CJK SC"/>
              </a:rPr>
              <a:t>在日军眼皮底下，把罪证一张张显影。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90104" y="3520440"/>
            <a:ext cx="3246120" cy="10972"/>
          </a:xfrm>
          <a:prstGeom prst="rect">
            <a:avLst/>
          </a:prstGeom>
          <a:solidFill>
            <a:srgbClr val="322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90104" y="3639312"/>
            <a:ext cx="3108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 i="0">
                <a:solidFill>
                  <a:srgbClr val="C8A264"/>
                </a:solidFill>
                <a:latin typeface="Noto Serif CJK SC"/>
                <a:ea typeface="Noto Serif CJK SC"/>
              </a:rPr>
              <a:t>第三幕 · 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90104" y="4069080"/>
            <a:ext cx="3035808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  <a:spcAft>
                <a:spcPts val="0"/>
              </a:spcAft>
            </a:pPr>
            <a:r>
              <a:rPr sz="1350" b="0" i="0">
                <a:solidFill>
                  <a:srgbClr val="C9C2B4"/>
                </a:solidFill>
                <a:latin typeface="Noto Sans CJK SC"/>
                <a:ea typeface="Noto Sans CJK SC"/>
              </a:rPr>
              <a:t>用命把底片送出城，让它站上法庭。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44068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 i="0">
                <a:solidFill>
                  <a:srgbClr val="9C958A"/>
                </a:solidFill>
                <a:latin typeface="Noto Sans CJK SC"/>
                <a:ea typeface="Noto Sans CJK SC"/>
              </a:rPr>
              <a:t>「七人两证」是这部电影的戏剧核心：活下去，和留下证据，只能选一个。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382512"/>
            <a:ext cx="6400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50" b="0" i="0" spc="60">
                <a:solidFill>
                  <a:srgbClr val="9C958A"/>
                </a:solidFill>
                <a:latin typeface="Noto Sans CJK SC"/>
                <a:ea typeface="Noto Sans CJK SC"/>
              </a:rPr>
              <a:t>01 · 一间相馆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21240" y="6382512"/>
            <a:ext cx="149047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850" b="0" i="0" spc="40">
                <a:solidFill>
                  <a:srgbClr val="9C958A"/>
                </a:solidFill>
                <a:latin typeface="Noto Sans CJK SC"/>
                <a:ea typeface="Noto Sans CJK SC"/>
              </a:rPr>
              <a:t>05 / 27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B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03504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0" i="0" spc="150">
                <a:solidFill>
                  <a:srgbClr val="C8A264"/>
                </a:solidFill>
                <a:latin typeface="Noto Sans CJK SC"/>
                <a:ea typeface="Noto Sans CJK SC"/>
              </a:rPr>
              <a:t>01 · 一间相馆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96112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0" i="0">
                <a:solidFill>
                  <a:srgbClr val="EEE8DC"/>
                </a:solidFill>
                <a:latin typeface="Noto Serif CJK SC"/>
                <a:ea typeface="Noto Serif CJK SC"/>
              </a:rPr>
              <a:t>谁在这间相馆里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645920"/>
            <a:ext cx="777240" cy="22860"/>
          </a:xfrm>
          <a:prstGeom prst="rect">
            <a:avLst/>
          </a:prstGeom>
          <a:solidFill>
            <a:srgbClr val="C8A2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938528"/>
            <a:ext cx="3246120" cy="1700784"/>
          </a:xfrm>
          <a:prstGeom prst="rect">
            <a:avLst/>
          </a:prstGeom>
          <a:solidFill>
            <a:srgbClr val="1817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938528"/>
            <a:ext cx="3246120" cy="18288"/>
          </a:xfrm>
          <a:prstGeom prst="rect">
            <a:avLst/>
          </a:prstGeom>
          <a:solidFill>
            <a:srgbClr val="C8A2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21031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 i="0" spc="80">
                <a:solidFill>
                  <a:srgbClr val="6E5C39"/>
                </a:solidFill>
                <a:latin typeface="Noto Sans CJK SC"/>
                <a:ea typeface="Noto Sans CJK SC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2359152"/>
            <a:ext cx="28346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 i="0">
                <a:solidFill>
                  <a:srgbClr val="EEE8DC"/>
                </a:solidFill>
                <a:latin typeface="Noto Serif CJK SC"/>
                <a:ea typeface="Noto Serif CJK SC"/>
              </a:rPr>
              <a:t>苏柳昌（阿昌）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743200"/>
            <a:ext cx="2834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0" i="0" spc="60">
                <a:solidFill>
                  <a:srgbClr val="C8A264"/>
                </a:solidFill>
                <a:latin typeface="Noto Sans CJK SC"/>
                <a:ea typeface="Noto Sans CJK SC"/>
              </a:rPr>
              <a:t>邮差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3035808"/>
            <a:ext cx="288036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200" b="0" i="0">
                <a:solidFill>
                  <a:srgbClr val="C9C2B4"/>
                </a:solidFill>
                <a:latin typeface="Noto Sans CJK SC"/>
                <a:ea typeface="Noto Sans CJK SC"/>
              </a:rPr>
              <a:t>只想活命，却被卷进真相。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70832" y="1938528"/>
            <a:ext cx="3246120" cy="1700784"/>
          </a:xfrm>
          <a:prstGeom prst="rect">
            <a:avLst/>
          </a:prstGeom>
          <a:solidFill>
            <a:srgbClr val="1817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70832" y="1938528"/>
            <a:ext cx="3246120" cy="18288"/>
          </a:xfrm>
          <a:prstGeom prst="rect">
            <a:avLst/>
          </a:prstGeom>
          <a:solidFill>
            <a:srgbClr val="C8A2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21031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 i="0" spc="80">
                <a:solidFill>
                  <a:srgbClr val="6E5C39"/>
                </a:solidFill>
                <a:latin typeface="Noto Sans CJK SC"/>
                <a:ea typeface="Noto Sans CJK SC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359152"/>
            <a:ext cx="28346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 i="0">
                <a:solidFill>
                  <a:srgbClr val="EEE8DC"/>
                </a:solidFill>
                <a:latin typeface="Noto Serif CJK SC"/>
                <a:ea typeface="Noto Serif CJK SC"/>
              </a:rPr>
              <a:t>林毓秀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743200"/>
            <a:ext cx="2834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0" i="0" spc="60">
                <a:solidFill>
                  <a:srgbClr val="C8A264"/>
                </a:solidFill>
                <a:latin typeface="Noto Sans CJK SC"/>
                <a:ea typeface="Noto Sans CJK SC"/>
              </a:rPr>
              <a:t>演员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035808"/>
            <a:ext cx="288036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200" b="0" i="0">
                <a:solidFill>
                  <a:srgbClr val="C9C2B4"/>
                </a:solidFill>
                <a:latin typeface="Noto Sans CJK SC"/>
                <a:ea typeface="Noto Sans CJK SC"/>
              </a:rPr>
              <a:t>从摇摆不定，到挺身而出。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64424" y="1938528"/>
            <a:ext cx="3246120" cy="1700784"/>
          </a:xfrm>
          <a:prstGeom prst="rect">
            <a:avLst/>
          </a:prstGeom>
          <a:solidFill>
            <a:srgbClr val="1817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64424" y="1938528"/>
            <a:ext cx="3246120" cy="18288"/>
          </a:xfrm>
          <a:prstGeom prst="rect">
            <a:avLst/>
          </a:prstGeom>
          <a:solidFill>
            <a:srgbClr val="C8A2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65592" y="21031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 i="0" spc="80">
                <a:solidFill>
                  <a:srgbClr val="6E5C39"/>
                </a:solidFill>
                <a:latin typeface="Noto Sans CJK SC"/>
                <a:ea typeface="Noto Sans CJK SC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65592" y="2359152"/>
            <a:ext cx="28346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 i="0">
                <a:solidFill>
                  <a:srgbClr val="EEE8DC"/>
                </a:solidFill>
                <a:latin typeface="Noto Serif CJK SC"/>
                <a:ea typeface="Noto Serif CJK SC"/>
              </a:rPr>
              <a:t>金承宗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65592" y="2743200"/>
            <a:ext cx="2834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0" i="0" spc="60">
                <a:solidFill>
                  <a:srgbClr val="C8A264"/>
                </a:solidFill>
                <a:latin typeface="Noto Sans CJK SC"/>
                <a:ea typeface="Noto Sans CJK SC"/>
              </a:rPr>
              <a:t>照相馆老板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65592" y="3035808"/>
            <a:ext cx="288036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200" b="0" i="0">
                <a:solidFill>
                  <a:srgbClr val="C9C2B4"/>
                </a:solidFill>
                <a:latin typeface="Noto Sans CJK SC"/>
                <a:ea typeface="Noto Sans CJK SC"/>
              </a:rPr>
              <a:t>一家人的主心骨，也是相馆的主人。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3858768"/>
            <a:ext cx="3246120" cy="1700784"/>
          </a:xfrm>
          <a:prstGeom prst="rect">
            <a:avLst/>
          </a:prstGeom>
          <a:solidFill>
            <a:srgbClr val="1817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77240" y="3858768"/>
            <a:ext cx="3246120" cy="18288"/>
          </a:xfrm>
          <a:prstGeom prst="rect">
            <a:avLst/>
          </a:prstGeom>
          <a:solidFill>
            <a:srgbClr val="C8A2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8408" y="40233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 i="0" spc="80">
                <a:solidFill>
                  <a:srgbClr val="6E5C39"/>
                </a:solidFill>
                <a:latin typeface="Noto Sans CJK SC"/>
                <a:ea typeface="Noto Sans CJK SC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" y="4279392"/>
            <a:ext cx="28346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 i="0">
                <a:solidFill>
                  <a:srgbClr val="EEE8DC"/>
                </a:solidFill>
                <a:latin typeface="Noto Serif CJK SC"/>
                <a:ea typeface="Noto Serif CJK SC"/>
              </a:rPr>
              <a:t>赵宜芳 · 金婉仪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8408" y="4663440"/>
            <a:ext cx="2834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0" i="0" spc="60">
                <a:solidFill>
                  <a:srgbClr val="C8A264"/>
                </a:solidFill>
                <a:latin typeface="Noto Sans CJK SC"/>
                <a:ea typeface="Noto Sans CJK SC"/>
              </a:rPr>
              <a:t>妻女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" y="4956048"/>
            <a:ext cx="288036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200" b="0" i="0">
                <a:solidFill>
                  <a:srgbClr val="C9C2B4"/>
                </a:solidFill>
                <a:latin typeface="Noto Sans CJK SC"/>
                <a:ea typeface="Noto Sans CJK SC"/>
              </a:rPr>
              <a:t>地下室里的另一半人质与生机。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70832" y="3858768"/>
            <a:ext cx="3246120" cy="1700784"/>
          </a:xfrm>
          <a:prstGeom prst="rect">
            <a:avLst/>
          </a:prstGeom>
          <a:solidFill>
            <a:srgbClr val="1817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370832" y="3858768"/>
            <a:ext cx="3246120" cy="18288"/>
          </a:xfrm>
          <a:prstGeom prst="rect">
            <a:avLst/>
          </a:prstGeom>
          <a:solidFill>
            <a:srgbClr val="C8A2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0" y="40233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 i="0" spc="80">
                <a:solidFill>
                  <a:srgbClr val="6E5C39"/>
                </a:solidFill>
                <a:latin typeface="Noto Sans CJK SC"/>
                <a:ea typeface="Noto Sans CJK SC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4279392"/>
            <a:ext cx="28346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 i="0">
                <a:solidFill>
                  <a:srgbClr val="EEE8DC"/>
                </a:solidFill>
                <a:latin typeface="Noto Serif CJK SC"/>
                <a:ea typeface="Noto Serif CJK SC"/>
              </a:rPr>
              <a:t>王广海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4663440"/>
            <a:ext cx="2834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0" i="0" spc="60">
                <a:solidFill>
                  <a:srgbClr val="C8A264"/>
                </a:solidFill>
                <a:latin typeface="Noto Sans CJK SC"/>
                <a:ea typeface="Noto Sans CJK SC"/>
              </a:rPr>
              <a:t>日语翻译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4956048"/>
            <a:ext cx="288036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200" b="0" i="0">
                <a:solidFill>
                  <a:srgbClr val="C9C2B4"/>
                </a:solidFill>
                <a:latin typeface="Noto Sans CJK SC"/>
                <a:ea typeface="Noto Sans CJK SC"/>
              </a:rPr>
              <a:t>投机者的镜像——本页先记住他。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964424" y="3858768"/>
            <a:ext cx="3246120" cy="1700784"/>
          </a:xfrm>
          <a:prstGeom prst="rect">
            <a:avLst/>
          </a:prstGeom>
          <a:solidFill>
            <a:srgbClr val="1817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964424" y="3858768"/>
            <a:ext cx="3246120" cy="18288"/>
          </a:xfrm>
          <a:prstGeom prst="rect">
            <a:avLst/>
          </a:prstGeom>
          <a:solidFill>
            <a:srgbClr val="C8A2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65592" y="40233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 i="0" spc="80">
                <a:solidFill>
                  <a:srgbClr val="6E5C39"/>
                </a:solidFill>
                <a:latin typeface="Noto Sans CJK SC"/>
                <a:ea typeface="Noto Sans CJK SC"/>
              </a:rPr>
              <a:t>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65592" y="4279392"/>
            <a:ext cx="28346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 i="0">
                <a:solidFill>
                  <a:srgbClr val="EEE8DC"/>
                </a:solidFill>
                <a:latin typeface="Noto Serif CJK SC"/>
                <a:ea typeface="Noto Serif CJK SC"/>
              </a:rPr>
              <a:t>七个人，两张通行证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65592" y="4663440"/>
            <a:ext cx="2834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0" i="0" spc="60">
                <a:solidFill>
                  <a:srgbClr val="C8A264"/>
                </a:solidFill>
                <a:latin typeface="Noto Sans CJK SC"/>
                <a:ea typeface="Noto Sans CJK SC"/>
              </a:rPr>
              <a:t>群像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65592" y="4956048"/>
            <a:ext cx="288036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200" b="0" i="0">
                <a:solidFill>
                  <a:srgbClr val="C9C2B4"/>
                </a:solidFill>
                <a:latin typeface="Noto Sans CJK SC"/>
                <a:ea typeface="Noto Sans CJK SC"/>
              </a:rPr>
              <a:t>影片真正的主角，是「普通人」。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" y="6382512"/>
            <a:ext cx="6400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50" b="0" i="0" spc="60">
                <a:solidFill>
                  <a:srgbClr val="9C958A"/>
                </a:solidFill>
                <a:latin typeface="Noto Sans CJK SC"/>
                <a:ea typeface="Noto Sans CJK SC"/>
              </a:rPr>
              <a:t>01 · 一间相馆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21240" y="6382512"/>
            <a:ext cx="149047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850" b="0" i="0" spc="40">
                <a:solidFill>
                  <a:srgbClr val="9C958A"/>
                </a:solidFill>
                <a:latin typeface="Noto Sans CJK SC"/>
                <a:ea typeface="Noto Sans CJK SC"/>
              </a:rPr>
              <a:t>06 / 27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B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64592" y="164592"/>
            <a:ext cx="237744" cy="118872"/>
          </a:xfrm>
          <a:prstGeom prst="rect">
            <a:avLst/>
          </a:prstGeom>
          <a:solidFill>
            <a:srgbClr val="C8A26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4944" y="164592"/>
            <a:ext cx="237744" cy="118872"/>
          </a:xfrm>
          <a:prstGeom prst="rect">
            <a:avLst/>
          </a:prstGeom>
          <a:solidFill>
            <a:srgbClr val="C8A26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25295" y="164592"/>
            <a:ext cx="237744" cy="118872"/>
          </a:xfrm>
          <a:prstGeom prst="rect">
            <a:avLst/>
          </a:prstGeom>
          <a:solidFill>
            <a:srgbClr val="C8A26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755647" y="164592"/>
            <a:ext cx="237744" cy="118872"/>
          </a:xfrm>
          <a:prstGeom prst="rect">
            <a:avLst/>
          </a:prstGeom>
          <a:solidFill>
            <a:srgbClr val="C8A26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0" y="164592"/>
            <a:ext cx="237744" cy="118872"/>
          </a:xfrm>
          <a:prstGeom prst="rect">
            <a:avLst/>
          </a:prstGeom>
          <a:solidFill>
            <a:srgbClr val="C8A26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816352" y="164592"/>
            <a:ext cx="237744" cy="118872"/>
          </a:xfrm>
          <a:prstGeom prst="rect">
            <a:avLst/>
          </a:prstGeom>
          <a:solidFill>
            <a:srgbClr val="C8A26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346703" y="164592"/>
            <a:ext cx="237744" cy="118872"/>
          </a:xfrm>
          <a:prstGeom prst="rect">
            <a:avLst/>
          </a:prstGeom>
          <a:solidFill>
            <a:srgbClr val="C8A26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77055" y="164592"/>
            <a:ext cx="237744" cy="118872"/>
          </a:xfrm>
          <a:prstGeom prst="rect">
            <a:avLst/>
          </a:prstGeom>
          <a:solidFill>
            <a:srgbClr val="C8A26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07407" y="164592"/>
            <a:ext cx="237744" cy="118872"/>
          </a:xfrm>
          <a:prstGeom prst="rect">
            <a:avLst/>
          </a:prstGeom>
          <a:solidFill>
            <a:srgbClr val="C8A26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937759" y="164592"/>
            <a:ext cx="237744" cy="118872"/>
          </a:xfrm>
          <a:prstGeom prst="rect">
            <a:avLst/>
          </a:prstGeom>
          <a:solidFill>
            <a:srgbClr val="C8A26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68112" y="164592"/>
            <a:ext cx="237744" cy="118872"/>
          </a:xfrm>
          <a:prstGeom prst="rect">
            <a:avLst/>
          </a:prstGeom>
          <a:solidFill>
            <a:srgbClr val="C8A26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98464" y="164592"/>
            <a:ext cx="237744" cy="118872"/>
          </a:xfrm>
          <a:prstGeom prst="rect">
            <a:avLst/>
          </a:prstGeom>
          <a:solidFill>
            <a:srgbClr val="C8A26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28815" y="164592"/>
            <a:ext cx="237744" cy="118872"/>
          </a:xfrm>
          <a:prstGeom prst="rect">
            <a:avLst/>
          </a:prstGeom>
          <a:solidFill>
            <a:srgbClr val="C8A26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59167" y="164592"/>
            <a:ext cx="237744" cy="118872"/>
          </a:xfrm>
          <a:prstGeom prst="rect">
            <a:avLst/>
          </a:prstGeom>
          <a:solidFill>
            <a:srgbClr val="C8A26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589519" y="164592"/>
            <a:ext cx="237744" cy="118872"/>
          </a:xfrm>
          <a:prstGeom prst="rect">
            <a:avLst/>
          </a:prstGeom>
          <a:solidFill>
            <a:srgbClr val="C8A26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19871" y="164592"/>
            <a:ext cx="237744" cy="118872"/>
          </a:xfrm>
          <a:prstGeom prst="rect">
            <a:avLst/>
          </a:prstGeom>
          <a:solidFill>
            <a:srgbClr val="C8A26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650224" y="164592"/>
            <a:ext cx="237744" cy="118872"/>
          </a:xfrm>
          <a:prstGeom prst="rect">
            <a:avLst/>
          </a:prstGeom>
          <a:solidFill>
            <a:srgbClr val="C8A26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80576" y="164592"/>
            <a:ext cx="237744" cy="118872"/>
          </a:xfrm>
          <a:prstGeom prst="rect">
            <a:avLst/>
          </a:prstGeom>
          <a:solidFill>
            <a:srgbClr val="C8A26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710928" y="164592"/>
            <a:ext cx="237744" cy="118872"/>
          </a:xfrm>
          <a:prstGeom prst="rect">
            <a:avLst/>
          </a:prstGeom>
          <a:solidFill>
            <a:srgbClr val="C8A26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241280" y="164592"/>
            <a:ext cx="237744" cy="118872"/>
          </a:xfrm>
          <a:prstGeom prst="rect">
            <a:avLst/>
          </a:prstGeom>
          <a:solidFill>
            <a:srgbClr val="C8A26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771632" y="164592"/>
            <a:ext cx="237744" cy="118872"/>
          </a:xfrm>
          <a:prstGeom prst="rect">
            <a:avLst/>
          </a:prstGeom>
          <a:solidFill>
            <a:srgbClr val="C8A26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1301984" y="164592"/>
            <a:ext cx="237744" cy="118872"/>
          </a:xfrm>
          <a:prstGeom prst="rect">
            <a:avLst/>
          </a:prstGeom>
          <a:solidFill>
            <a:srgbClr val="C8A26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832336" y="164592"/>
            <a:ext cx="237744" cy="118872"/>
          </a:xfrm>
          <a:prstGeom prst="rect">
            <a:avLst/>
          </a:prstGeom>
          <a:solidFill>
            <a:srgbClr val="C8A26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64592" y="6574536"/>
            <a:ext cx="237744" cy="118872"/>
          </a:xfrm>
          <a:prstGeom prst="rect">
            <a:avLst/>
          </a:prstGeom>
          <a:solidFill>
            <a:srgbClr val="C8A26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94944" y="6574536"/>
            <a:ext cx="237744" cy="118872"/>
          </a:xfrm>
          <a:prstGeom prst="rect">
            <a:avLst/>
          </a:prstGeom>
          <a:solidFill>
            <a:srgbClr val="C8A26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225295" y="6574536"/>
            <a:ext cx="237744" cy="118872"/>
          </a:xfrm>
          <a:prstGeom prst="rect">
            <a:avLst/>
          </a:prstGeom>
          <a:solidFill>
            <a:srgbClr val="C8A26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755647" y="6574536"/>
            <a:ext cx="237744" cy="118872"/>
          </a:xfrm>
          <a:prstGeom prst="rect">
            <a:avLst/>
          </a:prstGeom>
          <a:solidFill>
            <a:srgbClr val="C8A26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286000" y="6574536"/>
            <a:ext cx="237744" cy="118872"/>
          </a:xfrm>
          <a:prstGeom prst="rect">
            <a:avLst/>
          </a:prstGeom>
          <a:solidFill>
            <a:srgbClr val="C8A26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816352" y="6574536"/>
            <a:ext cx="237744" cy="118872"/>
          </a:xfrm>
          <a:prstGeom prst="rect">
            <a:avLst/>
          </a:prstGeom>
          <a:solidFill>
            <a:srgbClr val="C8A26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346703" y="6574536"/>
            <a:ext cx="237744" cy="118872"/>
          </a:xfrm>
          <a:prstGeom prst="rect">
            <a:avLst/>
          </a:prstGeom>
          <a:solidFill>
            <a:srgbClr val="C8A26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877055" y="6574536"/>
            <a:ext cx="237744" cy="118872"/>
          </a:xfrm>
          <a:prstGeom prst="rect">
            <a:avLst/>
          </a:prstGeom>
          <a:solidFill>
            <a:srgbClr val="C8A26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407407" y="6574536"/>
            <a:ext cx="237744" cy="118872"/>
          </a:xfrm>
          <a:prstGeom prst="rect">
            <a:avLst/>
          </a:prstGeom>
          <a:solidFill>
            <a:srgbClr val="C8A26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937759" y="6574536"/>
            <a:ext cx="237744" cy="118872"/>
          </a:xfrm>
          <a:prstGeom prst="rect">
            <a:avLst/>
          </a:prstGeom>
          <a:solidFill>
            <a:srgbClr val="C8A26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468112" y="6574536"/>
            <a:ext cx="237744" cy="118872"/>
          </a:xfrm>
          <a:prstGeom prst="rect">
            <a:avLst/>
          </a:prstGeom>
          <a:solidFill>
            <a:srgbClr val="C8A26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998464" y="6574536"/>
            <a:ext cx="237744" cy="118872"/>
          </a:xfrm>
          <a:prstGeom prst="rect">
            <a:avLst/>
          </a:prstGeom>
          <a:solidFill>
            <a:srgbClr val="C8A26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528815" y="6574536"/>
            <a:ext cx="237744" cy="118872"/>
          </a:xfrm>
          <a:prstGeom prst="rect">
            <a:avLst/>
          </a:prstGeom>
          <a:solidFill>
            <a:srgbClr val="C8A26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059167" y="6574536"/>
            <a:ext cx="237744" cy="118872"/>
          </a:xfrm>
          <a:prstGeom prst="rect">
            <a:avLst/>
          </a:prstGeom>
          <a:solidFill>
            <a:srgbClr val="C8A26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589519" y="6574536"/>
            <a:ext cx="237744" cy="118872"/>
          </a:xfrm>
          <a:prstGeom prst="rect">
            <a:avLst/>
          </a:prstGeom>
          <a:solidFill>
            <a:srgbClr val="C8A26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119871" y="6574536"/>
            <a:ext cx="237744" cy="118872"/>
          </a:xfrm>
          <a:prstGeom prst="rect">
            <a:avLst/>
          </a:prstGeom>
          <a:solidFill>
            <a:srgbClr val="C8A26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650224" y="6574536"/>
            <a:ext cx="237744" cy="118872"/>
          </a:xfrm>
          <a:prstGeom prst="rect">
            <a:avLst/>
          </a:prstGeom>
          <a:solidFill>
            <a:srgbClr val="C8A26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180576" y="6574536"/>
            <a:ext cx="237744" cy="118872"/>
          </a:xfrm>
          <a:prstGeom prst="rect">
            <a:avLst/>
          </a:prstGeom>
          <a:solidFill>
            <a:srgbClr val="C8A26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710928" y="6574536"/>
            <a:ext cx="237744" cy="118872"/>
          </a:xfrm>
          <a:prstGeom prst="rect">
            <a:avLst/>
          </a:prstGeom>
          <a:solidFill>
            <a:srgbClr val="C8A26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0241280" y="6574536"/>
            <a:ext cx="237744" cy="118872"/>
          </a:xfrm>
          <a:prstGeom prst="rect">
            <a:avLst/>
          </a:prstGeom>
          <a:solidFill>
            <a:srgbClr val="C8A26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0771632" y="6574536"/>
            <a:ext cx="237744" cy="118872"/>
          </a:xfrm>
          <a:prstGeom prst="rect">
            <a:avLst/>
          </a:prstGeom>
          <a:solidFill>
            <a:srgbClr val="C8A26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1301984" y="6574536"/>
            <a:ext cx="237744" cy="118872"/>
          </a:xfrm>
          <a:prstGeom prst="rect">
            <a:avLst/>
          </a:prstGeom>
          <a:solidFill>
            <a:srgbClr val="C8A26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1832336" y="6574536"/>
            <a:ext cx="237744" cy="118872"/>
          </a:xfrm>
          <a:prstGeom prst="rect">
            <a:avLst/>
          </a:prstGeom>
          <a:solidFill>
            <a:srgbClr val="C8A26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77240" y="1188720"/>
            <a:ext cx="365760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200" b="0" i="0">
                <a:solidFill>
                  <a:srgbClr val="6E5C39"/>
                </a:solidFill>
                <a:latin typeface="Noto Serif CJK SC"/>
                <a:ea typeface="Noto Serif CJK SC"/>
              </a:rPr>
              <a:t>02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160520" y="1481328"/>
            <a:ext cx="27432" cy="1828800"/>
          </a:xfrm>
          <a:prstGeom prst="rect">
            <a:avLst/>
          </a:prstGeom>
          <a:solidFill>
            <a:srgbClr val="C8A2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26280" y="1417320"/>
            <a:ext cx="6583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0" i="0" spc="200">
                <a:solidFill>
                  <a:srgbClr val="C8A264"/>
                </a:solidFill>
                <a:latin typeface="Noto Sans CJK SC"/>
                <a:ea typeface="Noto Sans CJK SC"/>
              </a:rPr>
              <a:t>PART 02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26280" y="1783080"/>
            <a:ext cx="67665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4200" b="0" i="0">
                <a:solidFill>
                  <a:srgbClr val="EEE8DC"/>
                </a:solidFill>
                <a:latin typeface="Noto Serif CJK SC"/>
                <a:ea typeface="Noto Serif CJK SC"/>
              </a:rPr>
              <a:t>一段史实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26280" y="2651760"/>
            <a:ext cx="6766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 i="0">
                <a:solidFill>
                  <a:srgbClr val="9C958A"/>
                </a:solidFill>
                <a:latin typeface="Noto Sans CJK SC"/>
                <a:ea typeface="Noto Sans CJK SC"/>
              </a:rPr>
              <a:t>故事是虚构的，那本相册是真的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26280" y="3977639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 i="0" spc="60">
                <a:solidFill>
                  <a:srgbClr val="C8A264"/>
                </a:solidFill>
                <a:latin typeface="Noto Sans CJK SC"/>
                <a:ea typeface="Noto Sans CJK SC"/>
              </a:rPr>
              <a:t>时间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760720" y="3977639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 i="0">
                <a:solidFill>
                  <a:srgbClr val="C9C2B4"/>
                </a:solidFill>
                <a:latin typeface="Noto Sans CJK SC"/>
                <a:ea typeface="Noto Sans CJK SC"/>
              </a:rPr>
              <a:t>1937 年 12 月 13 日，南京沦陷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26280" y="4251959"/>
            <a:ext cx="6309360" cy="10972"/>
          </a:xfrm>
          <a:prstGeom prst="rect">
            <a:avLst/>
          </a:prstGeom>
          <a:solidFill>
            <a:srgbClr val="322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526280" y="4480559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 i="0" spc="60">
                <a:solidFill>
                  <a:srgbClr val="C8A264"/>
                </a:solidFill>
                <a:latin typeface="Noto Sans CJK SC"/>
                <a:ea typeface="Noto Sans CJK SC"/>
              </a:rPr>
              <a:t>地点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760720" y="4480559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 i="0">
                <a:solidFill>
                  <a:srgbClr val="C9C2B4"/>
                </a:solidFill>
                <a:latin typeface="Noto Sans CJK SC"/>
                <a:ea typeface="Noto Sans CJK SC"/>
              </a:rPr>
              <a:t>长江路估衣廊一带，华东照相馆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526280" y="4754879"/>
            <a:ext cx="6309360" cy="10972"/>
          </a:xfrm>
          <a:prstGeom prst="rect">
            <a:avLst/>
          </a:prstGeom>
          <a:solidFill>
            <a:srgbClr val="322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526280" y="4983479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 i="0" spc="60">
                <a:solidFill>
                  <a:srgbClr val="C8A264"/>
                </a:solidFill>
                <a:latin typeface="Noto Sans CJK SC"/>
                <a:ea typeface="Noto Sans CJK SC"/>
              </a:rPr>
              <a:t>人物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760720" y="4983479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 i="0">
                <a:solidFill>
                  <a:srgbClr val="C9C2B4"/>
                </a:solidFill>
                <a:latin typeface="Noto Sans CJK SC"/>
                <a:ea typeface="Noto Sans CJK SC"/>
              </a:rPr>
              <a:t>15 岁的学徒罗瑾，与青年吴旋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526280" y="5257799"/>
            <a:ext cx="6309360" cy="10972"/>
          </a:xfrm>
          <a:prstGeom prst="rect">
            <a:avLst/>
          </a:prstGeom>
          <a:solidFill>
            <a:srgbClr val="322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526280" y="5486399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 i="0" spc="60">
                <a:solidFill>
                  <a:srgbClr val="C8A264"/>
                </a:solidFill>
                <a:latin typeface="Noto Sans CJK SC"/>
                <a:ea typeface="Noto Sans CJK SC"/>
              </a:rPr>
              <a:t>证据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760720" y="5486399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 i="0">
                <a:solidFill>
                  <a:srgbClr val="C9C2B4"/>
                </a:solidFill>
                <a:latin typeface="Noto Sans CJK SC"/>
                <a:ea typeface="Noto Sans CJK SC"/>
              </a:rPr>
              <a:t>16 张照片，编为「京字第一号证据」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526280" y="5760719"/>
            <a:ext cx="6309360" cy="10972"/>
          </a:xfrm>
          <a:prstGeom prst="rect">
            <a:avLst/>
          </a:prstGeom>
          <a:solidFill>
            <a:srgbClr val="322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921240" y="6382512"/>
            <a:ext cx="149047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850" b="0" i="0" spc="40">
                <a:solidFill>
                  <a:srgbClr val="9C958A"/>
                </a:solidFill>
                <a:latin typeface="Noto Sans CJK SC"/>
                <a:ea typeface="Noto Sans CJK SC"/>
              </a:rPr>
              <a:t>07 / 27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B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03504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0" i="0" spc="150">
                <a:solidFill>
                  <a:srgbClr val="C8A264"/>
                </a:solidFill>
                <a:latin typeface="Noto Sans CJK SC"/>
                <a:ea typeface="Noto Sans CJK SC"/>
              </a:rPr>
              <a:t>02 · 一段史实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96112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0" i="0">
                <a:solidFill>
                  <a:srgbClr val="EEE8DC"/>
                </a:solidFill>
                <a:latin typeface="Noto Serif CJK SC"/>
                <a:ea typeface="Noto Serif CJK SC"/>
              </a:rPr>
              <a:t>城破之后的六周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645920"/>
            <a:ext cx="777240" cy="22860"/>
          </a:xfrm>
          <a:prstGeom prst="rect">
            <a:avLst/>
          </a:prstGeom>
          <a:solidFill>
            <a:srgbClr val="C8A2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3977639"/>
            <a:ext cx="10607040" cy="10972"/>
          </a:xfrm>
          <a:prstGeom prst="rect">
            <a:avLst/>
          </a:prstGeom>
          <a:solidFill>
            <a:srgbClr val="322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206240"/>
            <a:ext cx="10424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600" b="0" i="0">
                <a:solidFill>
                  <a:srgbClr val="EEE8DC"/>
                </a:solidFill>
                <a:latin typeface="Noto Serif CJK SC"/>
                <a:ea typeface="Noto Serif CJK SC"/>
              </a:rPr>
              <a:t>铁证如山，无需渲染血腥。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800600"/>
            <a:ext cx="10424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 i="0">
                <a:solidFill>
                  <a:srgbClr val="9C958A"/>
                </a:solidFill>
                <a:latin typeface="Noto Sans CJK SC"/>
                <a:ea typeface="Noto Sans CJK SC"/>
              </a:rPr>
              <a:t>—— 主创谈这部影片的创作原则（澎湃新闻）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623560"/>
            <a:ext cx="10424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50" b="0" i="0">
                <a:solidFill>
                  <a:srgbClr val="9C958A"/>
                </a:solidFill>
                <a:latin typeface="Noto Sans CJK SC"/>
                <a:ea typeface="Noto Sans CJK SC"/>
              </a:rPr>
              <a:t>数据来源：侵华日军南京大屠杀遇难同胞纪念馆等公开资料。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6382512"/>
            <a:ext cx="6400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50" b="0" i="0" spc="60">
                <a:solidFill>
                  <a:srgbClr val="9C958A"/>
                </a:solidFill>
                <a:latin typeface="Noto Sans CJK SC"/>
                <a:ea typeface="Noto Sans CJK SC"/>
              </a:rPr>
              <a:t>02 · 一段史实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21240" y="6382512"/>
            <a:ext cx="149047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850" b="0" i="0" spc="40">
                <a:solidFill>
                  <a:srgbClr val="9C958A"/>
                </a:solidFill>
                <a:latin typeface="Noto Sans CJK SC"/>
                <a:ea typeface="Noto Sans CJK SC"/>
              </a:rPr>
              <a:t>08 / 27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1920240"/>
            <a:ext cx="2011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0">
                <a:solidFill>
                  <a:srgbClr val="C8A264"/>
                </a:solidFill>
                <a:latin typeface="Noto Serif CJK SC"/>
                <a:ea typeface="Noto Serif CJK SC"/>
              </a:rPr>
              <a:t>12.13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88920" y="1956816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EEE8DC"/>
                </a:solidFill>
                <a:latin typeface="Noto Sans CJK SC"/>
                <a:ea typeface="Noto Sans CJK SC"/>
              </a:rPr>
              <a:t>南京沦陷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88920" y="228600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9C958A"/>
                </a:solidFill>
                <a:latin typeface="Noto Sans CJK SC"/>
                <a:ea typeface="Noto Sans CJK SC"/>
              </a:rPr>
              <a:t>首都陷落，城破之日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2697480"/>
            <a:ext cx="2011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0">
                <a:solidFill>
                  <a:srgbClr val="C8A264"/>
                </a:solidFill>
                <a:latin typeface="Noto Serif CJK SC"/>
                <a:ea typeface="Noto Serif CJK SC"/>
              </a:rPr>
              <a:t>30 万+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88920" y="2734056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EEE8DC"/>
                </a:solidFill>
                <a:latin typeface="Noto Sans CJK SC"/>
                <a:ea typeface="Noto Sans CJK SC"/>
              </a:rPr>
              <a:t>遇难同胞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88920" y="306324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9C958A"/>
                </a:solidFill>
                <a:latin typeface="Noto Sans CJK SC"/>
                <a:ea typeface="Noto Sans CJK SC"/>
              </a:rPr>
              <a:t>纪念馆给出的数字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3474720"/>
            <a:ext cx="2011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0">
                <a:solidFill>
                  <a:srgbClr val="C8A264"/>
                </a:solidFill>
                <a:latin typeface="Noto Serif CJK SC"/>
                <a:ea typeface="Noto Serif CJK SC"/>
              </a:rPr>
              <a:t>6 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88920" y="3511296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EEE8DC"/>
                </a:solidFill>
                <a:latin typeface="Noto Sans CJK SC"/>
                <a:ea typeface="Noto Sans CJK SC"/>
              </a:rPr>
              <a:t>暴行持续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88920" y="384048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9C958A"/>
                </a:solidFill>
                <a:latin typeface="Noto Sans CJK SC"/>
                <a:ea typeface="Noto Sans CJK SC"/>
              </a:rPr>
              <a:t>长达六周的屠杀与掠夺</a:t>
            </a:r>
          </a:p>
        </p:txBody>
      </p:sp>
      <p:pic>
        <p:nvPicPr>
          <p:cNvPr id="29" name="Picture 28" descr="image1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6832" y="1920240"/>
            <a:ext cx="4727448" cy="1682496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656832" y="3657600"/>
            <a:ext cx="4754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>
                <a:solidFill>
                  <a:srgbClr val="9C958A"/>
                </a:solidFill>
                <a:latin typeface="Noto Sans CJK SC"/>
                <a:ea typeface="Noto Sans CJK SC"/>
              </a:rPr>
              <a:t>剧照：日军在废墟前拍照 ｜ 版权归片方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B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03504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0" i="0" spc="150">
                <a:solidFill>
                  <a:srgbClr val="C8A264"/>
                </a:solidFill>
                <a:latin typeface="Noto Sans CJK SC"/>
                <a:ea typeface="Noto Sans CJK SC"/>
              </a:rPr>
              <a:t>02 · 一段史实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96112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0" i="0">
                <a:solidFill>
                  <a:srgbClr val="EEE8DC"/>
                </a:solidFill>
                <a:latin typeface="Noto Serif CJK SC"/>
                <a:ea typeface="Noto Serif CJK SC"/>
              </a:rPr>
              <a:t>15 岁的学徒，16 张底片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645920"/>
            <a:ext cx="777240" cy="22860"/>
          </a:xfrm>
          <a:prstGeom prst="rect">
            <a:avLst/>
          </a:prstGeom>
          <a:solidFill>
            <a:srgbClr val="C8A2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93392"/>
            <a:ext cx="644652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lnSpc>
                <a:spcPct val="138000"/>
              </a:lnSpc>
              <a:spcAft>
                <a:spcPts val="1300"/>
              </a:spcAft>
            </a:pPr>
            <a:r>
              <a:rPr sz="1450">
                <a:solidFill>
                  <a:srgbClr val="C8A264"/>
                </a:solidFill>
                <a:latin typeface="Noto Sans CJK SC"/>
                <a:ea typeface="Noto Sans CJK SC"/>
              </a:rPr>
              <a:t>— </a:t>
            </a:r>
            <a:r>
              <a:rPr sz="1450" b="1">
                <a:solidFill>
                  <a:srgbClr val="EEE8DC"/>
                </a:solidFill>
                <a:latin typeface="Noto Sans CJK SC"/>
                <a:ea typeface="Noto Sans CJK SC"/>
              </a:rPr>
              <a:t>1938 年 1 月</a:t>
            </a:r>
            <a:r>
              <a:rPr sz="1450">
                <a:solidFill>
                  <a:srgbClr val="C9C2B4"/>
                </a:solidFill>
                <a:latin typeface="Noto Sans CJK SC"/>
                <a:ea typeface="Noto Sans CJK SC"/>
              </a:rPr>
              <a:t>，南京华东照相馆的学徒罗瑾，替一名日军军官冲洗「樱花牌」胶卷。</a:t>
            </a:r>
          </a:p>
          <a:p>
            <a:pPr marL="274320" indent="-274320">
              <a:lnSpc>
                <a:spcPct val="138000"/>
              </a:lnSpc>
              <a:spcAft>
                <a:spcPts val="1300"/>
              </a:spcAft>
            </a:pPr>
            <a:r>
              <a:rPr sz="1450">
                <a:solidFill>
                  <a:srgbClr val="C8A264"/>
                </a:solidFill>
                <a:latin typeface="Noto Sans CJK SC"/>
                <a:ea typeface="Noto Sans CJK SC"/>
              </a:rPr>
              <a:t>— </a:t>
            </a:r>
            <a:r>
              <a:rPr sz="1450" b="1">
                <a:solidFill>
                  <a:srgbClr val="EEE8DC"/>
                </a:solidFill>
                <a:latin typeface="Noto Sans CJK SC"/>
                <a:ea typeface="Noto Sans CJK SC"/>
              </a:rPr>
              <a:t>他加洗了 30 余张</a:t>
            </a:r>
            <a:r>
              <a:rPr sz="1450">
                <a:solidFill>
                  <a:srgbClr val="C9C2B4"/>
                </a:solidFill>
                <a:latin typeface="Noto Sans CJK SC"/>
                <a:ea typeface="Noto Sans CJK SC"/>
              </a:rPr>
              <a:t>，从中挑出 16 张，装订成一本自制的小相册。</a:t>
            </a:r>
          </a:p>
          <a:p>
            <a:pPr marL="274320" indent="-274320">
              <a:lnSpc>
                <a:spcPct val="138000"/>
              </a:lnSpc>
              <a:spcAft>
                <a:spcPts val="1300"/>
              </a:spcAft>
            </a:pPr>
            <a:r>
              <a:rPr sz="1450">
                <a:solidFill>
                  <a:srgbClr val="C8A264"/>
                </a:solidFill>
                <a:latin typeface="Noto Sans CJK SC"/>
                <a:ea typeface="Noto Sans CJK SC"/>
              </a:rPr>
              <a:t>— </a:t>
            </a:r>
            <a:r>
              <a:rPr sz="1450" b="1">
                <a:solidFill>
                  <a:srgbClr val="EEE8DC"/>
                </a:solidFill>
                <a:latin typeface="Noto Sans CJK SC"/>
                <a:ea typeface="Noto Sans CJK SC"/>
              </a:rPr>
              <a:t>封面上，他画下两颗滴血的心、一把刺向心脏的匕首</a:t>
            </a:r>
            <a:r>
              <a:rPr sz="1450">
                <a:solidFill>
                  <a:srgbClr val="C9C2B4"/>
                </a:solidFill>
                <a:latin typeface="Noto Sans CJK SC"/>
                <a:ea typeface="Noto Sans CJK SC"/>
              </a:rPr>
              <a:t>，并写了一个大大的「耻」字。</a:t>
            </a:r>
          </a:p>
          <a:p>
            <a:pPr marL="274320" indent="-274320">
              <a:lnSpc>
                <a:spcPct val="138000"/>
              </a:lnSpc>
              <a:spcAft>
                <a:spcPts val="1300"/>
              </a:spcAft>
            </a:pPr>
            <a:r>
              <a:rPr sz="1450">
                <a:solidFill>
                  <a:srgbClr val="C8A264"/>
                </a:solidFill>
                <a:latin typeface="Noto Sans CJK SC"/>
                <a:ea typeface="Noto Sans CJK SC"/>
              </a:rPr>
              <a:t>— </a:t>
            </a:r>
            <a:r>
              <a:rPr sz="1450" b="1">
                <a:solidFill>
                  <a:srgbClr val="EEE8DC"/>
                </a:solidFill>
                <a:latin typeface="Noto Sans CJK SC"/>
                <a:ea typeface="Noto Sans CJK SC"/>
              </a:rPr>
              <a:t>此后近八年</a:t>
            </a:r>
            <a:r>
              <a:rPr sz="1450">
                <a:solidFill>
                  <a:srgbClr val="C9C2B4"/>
                </a:solidFill>
                <a:latin typeface="Noto Sans CJK SC"/>
                <a:ea typeface="Noto Sans CJK SC"/>
              </a:rPr>
              <a:t>，这本相册在罗瑾与吴旋两位青年手中接力保存。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26679" y="1691640"/>
            <a:ext cx="27432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0" b="0" i="0">
                <a:solidFill>
                  <a:srgbClr val="C8A264"/>
                </a:solidFill>
                <a:latin typeface="Noto Serif CJK SC"/>
                <a:ea typeface="Noto Serif CJK SC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45552" y="324612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 i="0" spc="40">
                <a:solidFill>
                  <a:srgbClr val="9C958A"/>
                </a:solidFill>
                <a:latin typeface="Noto Sans CJK SC"/>
                <a:ea typeface="Noto Sans CJK SC"/>
              </a:rPr>
              <a:t>张照片，装订成册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532120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 i="0">
                <a:solidFill>
                  <a:srgbClr val="9C958A"/>
                </a:solidFill>
                <a:latin typeface="Noto Sans CJK SC"/>
                <a:ea typeface="Noto Sans CJK SC"/>
              </a:rPr>
              <a:t>原件现藏中国第二历史档案馆，复制件在纪念馆史料陈列厅展出。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382512"/>
            <a:ext cx="6400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50" b="0" i="0" spc="60">
                <a:solidFill>
                  <a:srgbClr val="9C958A"/>
                </a:solidFill>
                <a:latin typeface="Noto Sans CJK SC"/>
                <a:ea typeface="Noto Sans CJK SC"/>
              </a:rPr>
              <a:t>02 · 一段史实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21240" y="6382512"/>
            <a:ext cx="149047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850" b="0" i="0" spc="40">
                <a:solidFill>
                  <a:srgbClr val="9C958A"/>
                </a:solidFill>
                <a:latin typeface="Noto Sans CJK SC"/>
                <a:ea typeface="Noto Sans CJK SC"/>
              </a:rPr>
              <a:t>09 / 27</a:t>
            </a:r>
          </a:p>
        </p:txBody>
      </p:sp>
      <p:pic>
        <p:nvPicPr>
          <p:cNvPr id="13" name="Picture 12" descr="image4.jpg"/>
          <p:cNvPicPr>
            <a:picLocks noChangeAspect="1"/>
          </p:cNvPicPr>
          <p:nvPr/>
        </p:nvPicPr>
        <p:blipFill>
          <a:blip r:embed="rId3"/>
          <a:srcRect l="2000" r="50400" t="2000" b="36000"/>
          <a:stretch>
            <a:fillRect/>
          </a:stretch>
        </p:blipFill>
        <p:spPr>
          <a:xfrm>
            <a:off x="7818120" y="3291840"/>
            <a:ext cx="3017520" cy="2212848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7818120" y="3291840"/>
            <a:ext cx="3017520" cy="2212848"/>
          </a:xfrm>
          <a:prstGeom prst="rect">
            <a:avLst/>
          </a:prstGeom>
          <a:noFill/>
          <a:ln w="9525">
            <a:solidFill>
              <a:srgbClr val="322F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18120" y="5577840"/>
            <a:ext cx="3017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50" b="0">
                <a:solidFill>
                  <a:srgbClr val="9C958A"/>
                </a:solidFill>
                <a:latin typeface="Noto Sans CJK SC"/>
                <a:ea typeface="Noto Sans CJK SC"/>
              </a:rPr>
              <a:t>罗瑾（左）与吴旋（右）｜ 纪念馆展陈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B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03504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0" i="0" spc="150">
                <a:solidFill>
                  <a:srgbClr val="C8A264"/>
                </a:solidFill>
                <a:latin typeface="Noto Sans CJK SC"/>
                <a:ea typeface="Noto Sans CJK SC"/>
              </a:rPr>
              <a:t>02 · 一段史实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96112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0" i="0">
                <a:solidFill>
                  <a:srgbClr val="EEE8DC"/>
                </a:solidFill>
                <a:latin typeface="Noto Serif CJK SC"/>
                <a:ea typeface="Noto Serif CJK SC"/>
              </a:rPr>
              <a:t>从一本相册，到一份判决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645920"/>
            <a:ext cx="777240" cy="22860"/>
          </a:xfrm>
          <a:prstGeom prst="rect">
            <a:avLst/>
          </a:prstGeom>
          <a:solidFill>
            <a:srgbClr val="C8A2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60120" y="4041648"/>
            <a:ext cx="10241280" cy="18288"/>
          </a:xfrm>
          <a:prstGeom prst="rect">
            <a:avLst/>
          </a:prstGeom>
          <a:solidFill>
            <a:srgbClr val="6E5C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4712" y="3986784"/>
            <a:ext cx="128016" cy="128016"/>
          </a:xfrm>
          <a:prstGeom prst="rect">
            <a:avLst/>
          </a:prstGeom>
          <a:solidFill>
            <a:srgbClr val="C8A2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3401568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900" b="0" i="0">
                <a:solidFill>
                  <a:srgbClr val="C8A264"/>
                </a:solidFill>
                <a:latin typeface="Noto Serif CJK SC"/>
                <a:ea typeface="Noto Serif CJK SC"/>
              </a:rPr>
              <a:t>1938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343400"/>
            <a:ext cx="20574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100" b="0" i="0">
                <a:solidFill>
                  <a:srgbClr val="C9C2B4"/>
                </a:solidFill>
                <a:latin typeface="Noto Sans CJK SC"/>
                <a:ea typeface="Noto Sans CJK SC"/>
              </a:rPr>
              <a:t>罗瑾制作相册，冒死秘密保存。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3456432" y="3986784"/>
            <a:ext cx="128016" cy="128016"/>
          </a:xfrm>
          <a:prstGeom prst="rect">
            <a:avLst/>
          </a:prstGeom>
          <a:solidFill>
            <a:srgbClr val="C8A2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08959" y="3401568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900" b="0" i="0">
                <a:solidFill>
                  <a:srgbClr val="C8A264"/>
                </a:solidFill>
                <a:latin typeface="Noto Serif CJK SC"/>
                <a:ea typeface="Noto Serif CJK SC"/>
              </a:rPr>
              <a:t>1946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4343400"/>
            <a:ext cx="20574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100" b="0" i="0">
                <a:solidFill>
                  <a:srgbClr val="C9C2B4"/>
                </a:solidFill>
                <a:latin typeface="Noto Sans CJK SC"/>
                <a:ea typeface="Noto Sans CJK SC"/>
              </a:rPr>
              <a:t>八年守护后，吴旋将相册呈交南京审判战犯军事法庭。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88151" y="3986784"/>
            <a:ext cx="128016" cy="128016"/>
          </a:xfrm>
          <a:prstGeom prst="rect">
            <a:avLst/>
          </a:prstGeom>
          <a:solidFill>
            <a:srgbClr val="C8A2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40679" y="3401568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900" b="0" i="0">
                <a:solidFill>
                  <a:srgbClr val="C8A264"/>
                </a:solidFill>
                <a:latin typeface="Noto Serif CJK SC"/>
                <a:ea typeface="Noto Serif CJK SC"/>
              </a:rPr>
              <a:t>1947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49240" y="4343400"/>
            <a:ext cx="20574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100" b="0" i="0">
                <a:solidFill>
                  <a:srgbClr val="C9C2B4"/>
                </a:solidFill>
                <a:latin typeface="Noto Sans CJK SC"/>
                <a:ea typeface="Noto Sans CJK SC"/>
              </a:rPr>
              <a:t>4 月 26 日，主犯谷寿夫在雨花台被执行枪决。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19871" y="3986784"/>
            <a:ext cx="128016" cy="128016"/>
          </a:xfrm>
          <a:prstGeom prst="rect">
            <a:avLst/>
          </a:prstGeom>
          <a:solidFill>
            <a:srgbClr val="C8A2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0" y="3401568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900" b="0" i="0">
                <a:solidFill>
                  <a:srgbClr val="C8A264"/>
                </a:solidFill>
                <a:latin typeface="Noto Serif CJK SC"/>
                <a:ea typeface="Noto Serif CJK SC"/>
              </a:rPr>
              <a:t>1995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59" y="4343400"/>
            <a:ext cx="20574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100" b="0" i="0">
                <a:solidFill>
                  <a:srgbClr val="C9C2B4"/>
                </a:solidFill>
                <a:latin typeface="Noto Sans CJK SC"/>
                <a:ea typeface="Noto Sans CJK SC"/>
              </a:rPr>
              <a:t>两位白发守护者在纪念馆重逢。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451592" y="3986784"/>
            <a:ext cx="128016" cy="128016"/>
          </a:xfrm>
          <a:prstGeom prst="rect">
            <a:avLst/>
          </a:prstGeom>
          <a:solidFill>
            <a:srgbClr val="C8A2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104120" y="3401568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900" b="0" i="0">
                <a:solidFill>
                  <a:srgbClr val="C8A264"/>
                </a:solidFill>
                <a:latin typeface="Noto Serif CJK SC"/>
                <a:ea typeface="Noto Serif CJK SC"/>
              </a:rPr>
              <a:t>今天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12680" y="4343400"/>
            <a:ext cx="20574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100" b="0" i="0">
                <a:solidFill>
                  <a:srgbClr val="C9C2B4"/>
                </a:solidFill>
                <a:latin typeface="Noto Sans CJK SC"/>
                <a:ea typeface="Noto Sans CJK SC"/>
              </a:rPr>
              <a:t>原件藏中国第二历史档案馆，并向公众展出。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57784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 i="0">
                <a:solidFill>
                  <a:srgbClr val="9C958A"/>
                </a:solidFill>
                <a:latin typeface="Noto Sans CJK SC"/>
                <a:ea typeface="Noto Sans CJK SC"/>
              </a:rPr>
              <a:t>这本由日军自己拍下、由中国人拼命留住的相册，成了审判时最直接的一份证据。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6382512"/>
            <a:ext cx="6400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50" b="0" i="0" spc="60">
                <a:solidFill>
                  <a:srgbClr val="9C958A"/>
                </a:solidFill>
                <a:latin typeface="Noto Sans CJK SC"/>
                <a:ea typeface="Noto Sans CJK SC"/>
              </a:rPr>
              <a:t>02 · 一段史实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21240" y="6382512"/>
            <a:ext cx="149047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850" b="0" i="0" spc="40">
                <a:solidFill>
                  <a:srgbClr val="9C958A"/>
                </a:solidFill>
                <a:latin typeface="Noto Sans CJK SC"/>
                <a:ea typeface="Noto Sans CJK SC"/>
              </a:rPr>
              <a:t>10 / 27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B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03504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0" i="0" spc="150">
                <a:solidFill>
                  <a:srgbClr val="C8A264"/>
                </a:solidFill>
                <a:latin typeface="Noto Sans CJK SC"/>
                <a:ea typeface="Noto Sans CJK SC"/>
              </a:rPr>
              <a:t>02 · 一段史实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96112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0" i="0">
                <a:solidFill>
                  <a:srgbClr val="EEE8DC"/>
                </a:solidFill>
                <a:latin typeface="Noto Serif CJK SC"/>
                <a:ea typeface="Noto Serif CJK SC"/>
              </a:rPr>
              <a:t>改编，也是一次取舍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645920"/>
            <a:ext cx="777240" cy="22860"/>
          </a:xfrm>
          <a:prstGeom prst="rect">
            <a:avLst/>
          </a:prstGeom>
          <a:solidFill>
            <a:srgbClr val="C8A2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01952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 i="0" spc="120">
                <a:solidFill>
                  <a:srgbClr val="9C958A"/>
                </a:solidFill>
                <a:latin typeface="Noto Sans CJK SC"/>
                <a:ea typeface="Noto Sans CJK SC"/>
              </a:rPr>
              <a:t>对照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80360" y="1901952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 i="0" spc="120">
                <a:solidFill>
                  <a:srgbClr val="C8A264"/>
                </a:solidFill>
                <a:latin typeface="Noto Sans CJK SC"/>
                <a:ea typeface="Noto Sans CJK SC"/>
              </a:rPr>
              <a:t>史实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69480" y="1901952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 i="0" spc="120">
                <a:solidFill>
                  <a:srgbClr val="C8A264"/>
                </a:solidFill>
                <a:latin typeface="Noto Sans CJK SC"/>
                <a:ea typeface="Noto Sans CJK SC"/>
              </a:rPr>
              <a:t>银幕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212848"/>
            <a:ext cx="10424160" cy="10972"/>
          </a:xfrm>
          <a:prstGeom prst="rect">
            <a:avLst/>
          </a:prstGeom>
          <a:solidFill>
            <a:srgbClr val="322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41448"/>
            <a:ext cx="1737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 i="0">
                <a:solidFill>
                  <a:srgbClr val="9C958A"/>
                </a:solidFill>
                <a:latin typeface="Noto Sans CJK SC"/>
                <a:ea typeface="Noto Sans CJK SC"/>
              </a:rPr>
              <a:t>人物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2395728"/>
            <a:ext cx="4114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250" b="0" i="0">
                <a:solidFill>
                  <a:srgbClr val="C9C2B4"/>
                </a:solidFill>
                <a:latin typeface="Noto Sans CJK SC"/>
                <a:ea typeface="Noto Sans CJK SC"/>
              </a:rPr>
              <a:t>两个 15 岁的少年：罗瑾、吴旋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69480" y="2395728"/>
            <a:ext cx="4114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250" b="0" i="0">
                <a:solidFill>
                  <a:srgbClr val="EEE8DC"/>
                </a:solidFill>
                <a:latin typeface="Noto Sans CJK SC"/>
                <a:ea typeface="Noto Sans CJK SC"/>
              </a:rPr>
              <a:t>合并为邮差阿昌，加上相馆里的众人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3236976"/>
            <a:ext cx="10424160" cy="10972"/>
          </a:xfrm>
          <a:prstGeom prst="rect">
            <a:avLst/>
          </a:prstGeom>
          <a:solidFill>
            <a:srgbClr val="322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374136"/>
            <a:ext cx="1737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 i="0">
                <a:solidFill>
                  <a:srgbClr val="9C958A"/>
                </a:solidFill>
                <a:latin typeface="Noto Sans CJK SC"/>
                <a:ea typeface="Noto Sans CJK SC"/>
              </a:rPr>
              <a:t>空间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3328416"/>
            <a:ext cx="4114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250" b="0" i="0">
                <a:solidFill>
                  <a:srgbClr val="C9C2B4"/>
                </a:solidFill>
                <a:latin typeface="Noto Sans CJK SC"/>
                <a:ea typeface="Noto Sans CJK SC"/>
              </a:rPr>
              <a:t>华东照相馆，长江路估衣廊一带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9480" y="3328416"/>
            <a:ext cx="4114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250" b="0" i="0">
                <a:solidFill>
                  <a:srgbClr val="EEE8DC"/>
                </a:solidFill>
                <a:latin typeface="Noto Sans CJK SC"/>
                <a:ea typeface="Noto Sans CJK SC"/>
              </a:rPr>
              <a:t>改置「吉祥照相馆」，更集中的舞台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169664"/>
            <a:ext cx="10424160" cy="10972"/>
          </a:xfrm>
          <a:prstGeom prst="rect">
            <a:avLst/>
          </a:prstGeom>
          <a:solidFill>
            <a:srgbClr val="322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306824"/>
            <a:ext cx="1737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 i="0">
                <a:solidFill>
                  <a:srgbClr val="9C958A"/>
                </a:solidFill>
                <a:latin typeface="Noto Sans CJK SC"/>
                <a:ea typeface="Noto Sans CJK SC"/>
              </a:rPr>
              <a:t>结局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0360" y="4261104"/>
            <a:ext cx="4114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250" b="0" i="0">
                <a:solidFill>
                  <a:srgbClr val="C9C2B4"/>
                </a:solidFill>
                <a:latin typeface="Noto Sans CJK SC"/>
                <a:ea typeface="Noto Sans CJK SC"/>
              </a:rPr>
              <a:t>相册被秘密保存，战后呈交法庭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9480" y="4261104"/>
            <a:ext cx="4114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250" b="0" i="0">
                <a:solidFill>
                  <a:srgbClr val="EEE8DC"/>
                </a:solidFill>
                <a:latin typeface="Noto Sans CJK SC"/>
                <a:ea typeface="Noto Sans CJK SC"/>
              </a:rPr>
              <a:t>底片「送出城」成为最后一幕的悬念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5102352"/>
            <a:ext cx="10424160" cy="10972"/>
          </a:xfrm>
          <a:prstGeom prst="rect">
            <a:avLst/>
          </a:prstGeom>
          <a:solidFill>
            <a:srgbClr val="322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394960"/>
            <a:ext cx="10607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 i="0">
                <a:solidFill>
                  <a:srgbClr val="C8A264"/>
                </a:solidFill>
                <a:latin typeface="Noto Sans CJK SC"/>
                <a:ea typeface="Noto Sans CJK SC"/>
              </a:rPr>
              <a:t>改编不是改写事实，而是把史料的「档案感」，翻译成一个人的处境。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6382512"/>
            <a:ext cx="6400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50" b="0" i="0" spc="60">
                <a:solidFill>
                  <a:srgbClr val="9C958A"/>
                </a:solidFill>
                <a:latin typeface="Noto Sans CJK SC"/>
                <a:ea typeface="Noto Sans CJK SC"/>
              </a:rPr>
              <a:t>02 · 一段史实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21240" y="6382512"/>
            <a:ext cx="149047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850" b="0" i="0" spc="40">
                <a:solidFill>
                  <a:srgbClr val="9C958A"/>
                </a:solidFill>
                <a:latin typeface="Noto Sans CJK SC"/>
                <a:ea typeface="Noto Sans CJK SC"/>
              </a:rPr>
              <a:t>11 / 27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B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03504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0" i="0" spc="150">
                <a:solidFill>
                  <a:srgbClr val="C8A264"/>
                </a:solidFill>
                <a:latin typeface="Noto Sans CJK SC"/>
                <a:ea typeface="Noto Sans CJK SC"/>
              </a:rPr>
              <a:t>影像 · 预告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96112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0" i="0">
                <a:solidFill>
                  <a:srgbClr val="EEE8DC"/>
                </a:solidFill>
                <a:latin typeface="Noto Serif CJK SC"/>
                <a:ea typeface="Noto Serif CJK SC"/>
              </a:rPr>
              <a:t>先看一分半钟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645920"/>
            <a:ext cx="777240" cy="22860"/>
          </a:xfrm>
          <a:prstGeom prst="rect">
            <a:avLst/>
          </a:prstGeom>
          <a:solidFill>
            <a:srgbClr val="C8A2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011680"/>
            <a:ext cx="566928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lnSpc>
                <a:spcPct val="138000"/>
              </a:lnSpc>
              <a:spcAft>
                <a:spcPts val="1400"/>
              </a:spcAft>
            </a:pPr>
            <a:r>
              <a:rPr sz="1450">
                <a:solidFill>
                  <a:srgbClr val="C8A264"/>
                </a:solidFill>
                <a:latin typeface="Noto Sans CJK SC"/>
                <a:ea typeface="Noto Sans CJK SC"/>
              </a:rPr>
              <a:t>— </a:t>
            </a:r>
            <a:r>
              <a:rPr sz="1450" b="1">
                <a:solidFill>
                  <a:srgbClr val="EEE8DC"/>
                </a:solidFill>
                <a:latin typeface="Noto Sans CJK SC"/>
                <a:ea typeface="Noto Sans CJK SC"/>
              </a:rPr>
              <a:t>看镜头</a:t>
            </a:r>
            <a:r>
              <a:rPr sz="1450">
                <a:solidFill>
                  <a:srgbClr val="C9C2B4"/>
                </a:solidFill>
                <a:latin typeface="Noto Sans CJK SC"/>
                <a:ea typeface="Noto Sans CJK SC"/>
              </a:rPr>
              <a:t>：为什么一路都在晃，颜色为什么这么脏？</a:t>
            </a:r>
          </a:p>
          <a:p>
            <a:pPr marL="274320" indent="-274320">
              <a:lnSpc>
                <a:spcPct val="138000"/>
              </a:lnSpc>
              <a:spcAft>
                <a:spcPts val="1400"/>
              </a:spcAft>
            </a:pPr>
            <a:r>
              <a:rPr sz="1450">
                <a:solidFill>
                  <a:srgbClr val="C8A264"/>
                </a:solidFill>
                <a:latin typeface="Noto Sans CJK SC"/>
                <a:ea typeface="Noto Sans CJK SC"/>
              </a:rPr>
              <a:t>— </a:t>
            </a:r>
            <a:r>
              <a:rPr sz="1450" b="1">
                <a:solidFill>
                  <a:srgbClr val="EEE8DC"/>
                </a:solidFill>
                <a:latin typeface="Noto Sans CJK SC"/>
                <a:ea typeface="Noto Sans CJK SC"/>
              </a:rPr>
              <a:t>看人物</a:t>
            </a:r>
            <a:r>
              <a:rPr sz="1450">
                <a:solidFill>
                  <a:srgbClr val="C9C2B4"/>
                </a:solidFill>
                <a:latin typeface="Noto Sans CJK SC"/>
                <a:ea typeface="Noto Sans CJK SC"/>
              </a:rPr>
              <a:t>：七个人，谁在决定，谁在沉默？</a:t>
            </a:r>
          </a:p>
          <a:p>
            <a:pPr marL="274320" indent="-274320">
              <a:lnSpc>
                <a:spcPct val="138000"/>
              </a:lnSpc>
              <a:spcAft>
                <a:spcPts val="1400"/>
              </a:spcAft>
            </a:pPr>
            <a:r>
              <a:rPr sz="1450">
                <a:solidFill>
                  <a:srgbClr val="C8A264"/>
                </a:solidFill>
                <a:latin typeface="Noto Sans CJK SC"/>
                <a:ea typeface="Noto Sans CJK SC"/>
              </a:rPr>
              <a:t>— </a:t>
            </a:r>
            <a:r>
              <a:rPr sz="1450" b="1">
                <a:solidFill>
                  <a:srgbClr val="EEE8DC"/>
                </a:solidFill>
                <a:latin typeface="Noto Sans CJK SC"/>
                <a:ea typeface="Noto Sans CJK SC"/>
              </a:rPr>
              <a:t>看物件</a:t>
            </a:r>
            <a:r>
              <a:rPr sz="1450">
                <a:solidFill>
                  <a:srgbClr val="C9C2B4"/>
                </a:solidFill>
                <a:latin typeface="Noto Sans CJK SC"/>
                <a:ea typeface="Noto Sans CJK SC"/>
              </a:rPr>
              <a:t>：底片被谁拿着，又被谁看见？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310128"/>
            <a:ext cx="5669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50" b="0" i="0">
                <a:solidFill>
                  <a:srgbClr val="9C958A"/>
                </a:solidFill>
                <a:latin typeface="Noto Sans CJK SC"/>
                <a:ea typeface="Noto Sans CJK SC"/>
              </a:rPr>
              <a:t>预告物料版权归片方所有，课堂引用仅作分析。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720840" y="1938528"/>
            <a:ext cx="4617720" cy="2615184"/>
          </a:xfrm>
          <a:prstGeom prst="rect">
            <a:avLst/>
          </a:prstGeom>
          <a:solidFill>
            <a:srgbClr val="222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720840" y="1938528"/>
            <a:ext cx="4617720" cy="2615184"/>
          </a:xfrm>
          <a:prstGeom prst="rect">
            <a:avLst/>
          </a:prstGeom>
          <a:noFill/>
          <a:ln w="12700">
            <a:solidFill>
              <a:srgbClr val="322F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qr_trail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4882896"/>
            <a:ext cx="960120" cy="9601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863840" y="4901184"/>
            <a:ext cx="3566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50" b="0" i="0">
                <a:solidFill>
                  <a:srgbClr val="9C958A"/>
                </a:solidFill>
                <a:latin typeface="Noto Sans CJK SC"/>
                <a:ea typeface="Noto Sans CJK SC"/>
              </a:rPr>
              <a:t>扫码直达 B 站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50" b="0" i="0">
                <a:solidFill>
                  <a:srgbClr val="9C958A"/>
                </a:solidFill>
                <a:latin typeface="Noto Sans CJK SC"/>
                <a:ea typeface="Noto Sans CJK SC"/>
              </a:rPr>
              <a:t>bilibili.com/video/BV1t2K1zgEgi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50" b="0" i="0">
                <a:solidFill>
                  <a:srgbClr val="9C958A"/>
                </a:solidFill>
                <a:latin typeface="Noto Sans CJK SC"/>
                <a:ea typeface="Noto Sans CJK SC"/>
              </a:rPr>
              <a:t/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50" b="0" i="0">
                <a:solidFill>
                  <a:srgbClr val="9C958A"/>
                </a:solidFill>
                <a:latin typeface="Noto Sans CJK SC"/>
                <a:ea typeface="Noto Sans CJK SC"/>
              </a:rPr>
              <a:t>▶ 替换方法见本页备注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6382512"/>
            <a:ext cx="6400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50" b="0" i="0" spc="60">
                <a:solidFill>
                  <a:srgbClr val="9C958A"/>
                </a:solidFill>
                <a:latin typeface="Noto Sans CJK SC"/>
                <a:ea typeface="Noto Sans CJK SC"/>
              </a:rPr>
              <a:t>影像 · 预告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21240" y="6382512"/>
            <a:ext cx="149047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850" b="0" i="0" spc="40">
                <a:solidFill>
                  <a:srgbClr val="9C958A"/>
                </a:solidFill>
                <a:latin typeface="Noto Sans CJK SC"/>
                <a:ea typeface="Noto Sans CJK SC"/>
              </a:rPr>
              <a:t>12 / 27</a:t>
            </a:r>
          </a:p>
        </p:txBody>
      </p:sp>
      <p:pic>
        <p:nvPicPr>
          <p:cNvPr id="16" name="trailer.mp4">
            <a:hlinkClick r:id="" action="ppaction://media"/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6720840" y="1938528"/>
            <a:ext cx="4617720" cy="259689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720840" y="4626864"/>
            <a:ext cx="46177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>
                <a:solidFill>
                  <a:srgbClr val="9C958A"/>
                </a:solidFill>
                <a:latin typeface="Noto Sans CJK SC"/>
                <a:ea typeface="Noto Sans CJK SC"/>
              </a:rPr>
              <a:t>影片：首支预告 ｜ 1 分 34 秒 ｜ 点击画面播放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6"/>
                </p:tgtEl>
              </p:cMediaNode>
            </p:video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B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64592" y="164592"/>
            <a:ext cx="237744" cy="118872"/>
          </a:xfrm>
          <a:prstGeom prst="rect">
            <a:avLst/>
          </a:prstGeom>
          <a:solidFill>
            <a:srgbClr val="C8A26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4944" y="164592"/>
            <a:ext cx="237744" cy="118872"/>
          </a:xfrm>
          <a:prstGeom prst="rect">
            <a:avLst/>
          </a:prstGeom>
          <a:solidFill>
            <a:srgbClr val="C8A26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25295" y="164592"/>
            <a:ext cx="237744" cy="118872"/>
          </a:xfrm>
          <a:prstGeom prst="rect">
            <a:avLst/>
          </a:prstGeom>
          <a:solidFill>
            <a:srgbClr val="C8A26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755647" y="164592"/>
            <a:ext cx="237744" cy="118872"/>
          </a:xfrm>
          <a:prstGeom prst="rect">
            <a:avLst/>
          </a:prstGeom>
          <a:solidFill>
            <a:srgbClr val="C8A26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0" y="164592"/>
            <a:ext cx="237744" cy="118872"/>
          </a:xfrm>
          <a:prstGeom prst="rect">
            <a:avLst/>
          </a:prstGeom>
          <a:solidFill>
            <a:srgbClr val="C8A26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816352" y="164592"/>
            <a:ext cx="237744" cy="118872"/>
          </a:xfrm>
          <a:prstGeom prst="rect">
            <a:avLst/>
          </a:prstGeom>
          <a:solidFill>
            <a:srgbClr val="C8A26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346703" y="164592"/>
            <a:ext cx="237744" cy="118872"/>
          </a:xfrm>
          <a:prstGeom prst="rect">
            <a:avLst/>
          </a:prstGeom>
          <a:solidFill>
            <a:srgbClr val="C8A26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77055" y="164592"/>
            <a:ext cx="237744" cy="118872"/>
          </a:xfrm>
          <a:prstGeom prst="rect">
            <a:avLst/>
          </a:prstGeom>
          <a:solidFill>
            <a:srgbClr val="C8A26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07407" y="164592"/>
            <a:ext cx="237744" cy="118872"/>
          </a:xfrm>
          <a:prstGeom prst="rect">
            <a:avLst/>
          </a:prstGeom>
          <a:solidFill>
            <a:srgbClr val="C8A26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937759" y="164592"/>
            <a:ext cx="237744" cy="118872"/>
          </a:xfrm>
          <a:prstGeom prst="rect">
            <a:avLst/>
          </a:prstGeom>
          <a:solidFill>
            <a:srgbClr val="C8A26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68112" y="164592"/>
            <a:ext cx="237744" cy="118872"/>
          </a:xfrm>
          <a:prstGeom prst="rect">
            <a:avLst/>
          </a:prstGeom>
          <a:solidFill>
            <a:srgbClr val="C8A26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98464" y="164592"/>
            <a:ext cx="237744" cy="118872"/>
          </a:xfrm>
          <a:prstGeom prst="rect">
            <a:avLst/>
          </a:prstGeom>
          <a:solidFill>
            <a:srgbClr val="C8A26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28815" y="164592"/>
            <a:ext cx="237744" cy="118872"/>
          </a:xfrm>
          <a:prstGeom prst="rect">
            <a:avLst/>
          </a:prstGeom>
          <a:solidFill>
            <a:srgbClr val="C8A26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59167" y="164592"/>
            <a:ext cx="237744" cy="118872"/>
          </a:xfrm>
          <a:prstGeom prst="rect">
            <a:avLst/>
          </a:prstGeom>
          <a:solidFill>
            <a:srgbClr val="C8A26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589519" y="164592"/>
            <a:ext cx="237744" cy="118872"/>
          </a:xfrm>
          <a:prstGeom prst="rect">
            <a:avLst/>
          </a:prstGeom>
          <a:solidFill>
            <a:srgbClr val="C8A26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19871" y="164592"/>
            <a:ext cx="237744" cy="118872"/>
          </a:xfrm>
          <a:prstGeom prst="rect">
            <a:avLst/>
          </a:prstGeom>
          <a:solidFill>
            <a:srgbClr val="C8A26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650224" y="164592"/>
            <a:ext cx="237744" cy="118872"/>
          </a:xfrm>
          <a:prstGeom prst="rect">
            <a:avLst/>
          </a:prstGeom>
          <a:solidFill>
            <a:srgbClr val="C8A26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80576" y="164592"/>
            <a:ext cx="237744" cy="118872"/>
          </a:xfrm>
          <a:prstGeom prst="rect">
            <a:avLst/>
          </a:prstGeom>
          <a:solidFill>
            <a:srgbClr val="C8A26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710928" y="164592"/>
            <a:ext cx="237744" cy="118872"/>
          </a:xfrm>
          <a:prstGeom prst="rect">
            <a:avLst/>
          </a:prstGeom>
          <a:solidFill>
            <a:srgbClr val="C8A26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241280" y="164592"/>
            <a:ext cx="237744" cy="118872"/>
          </a:xfrm>
          <a:prstGeom prst="rect">
            <a:avLst/>
          </a:prstGeom>
          <a:solidFill>
            <a:srgbClr val="C8A26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771632" y="164592"/>
            <a:ext cx="237744" cy="118872"/>
          </a:xfrm>
          <a:prstGeom prst="rect">
            <a:avLst/>
          </a:prstGeom>
          <a:solidFill>
            <a:srgbClr val="C8A26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1301984" y="164592"/>
            <a:ext cx="237744" cy="118872"/>
          </a:xfrm>
          <a:prstGeom prst="rect">
            <a:avLst/>
          </a:prstGeom>
          <a:solidFill>
            <a:srgbClr val="C8A26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832336" y="164592"/>
            <a:ext cx="237744" cy="118872"/>
          </a:xfrm>
          <a:prstGeom prst="rect">
            <a:avLst/>
          </a:prstGeom>
          <a:solidFill>
            <a:srgbClr val="C8A26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64592" y="6574536"/>
            <a:ext cx="237744" cy="118872"/>
          </a:xfrm>
          <a:prstGeom prst="rect">
            <a:avLst/>
          </a:prstGeom>
          <a:solidFill>
            <a:srgbClr val="C8A26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94944" y="6574536"/>
            <a:ext cx="237744" cy="118872"/>
          </a:xfrm>
          <a:prstGeom prst="rect">
            <a:avLst/>
          </a:prstGeom>
          <a:solidFill>
            <a:srgbClr val="C8A26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225295" y="6574536"/>
            <a:ext cx="237744" cy="118872"/>
          </a:xfrm>
          <a:prstGeom prst="rect">
            <a:avLst/>
          </a:prstGeom>
          <a:solidFill>
            <a:srgbClr val="C8A26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755647" y="6574536"/>
            <a:ext cx="237744" cy="118872"/>
          </a:xfrm>
          <a:prstGeom prst="rect">
            <a:avLst/>
          </a:prstGeom>
          <a:solidFill>
            <a:srgbClr val="C8A26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286000" y="6574536"/>
            <a:ext cx="237744" cy="118872"/>
          </a:xfrm>
          <a:prstGeom prst="rect">
            <a:avLst/>
          </a:prstGeom>
          <a:solidFill>
            <a:srgbClr val="C8A26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816352" y="6574536"/>
            <a:ext cx="237744" cy="118872"/>
          </a:xfrm>
          <a:prstGeom prst="rect">
            <a:avLst/>
          </a:prstGeom>
          <a:solidFill>
            <a:srgbClr val="C8A26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346703" y="6574536"/>
            <a:ext cx="237744" cy="118872"/>
          </a:xfrm>
          <a:prstGeom prst="rect">
            <a:avLst/>
          </a:prstGeom>
          <a:solidFill>
            <a:srgbClr val="C8A26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877055" y="6574536"/>
            <a:ext cx="237744" cy="118872"/>
          </a:xfrm>
          <a:prstGeom prst="rect">
            <a:avLst/>
          </a:prstGeom>
          <a:solidFill>
            <a:srgbClr val="C8A26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407407" y="6574536"/>
            <a:ext cx="237744" cy="118872"/>
          </a:xfrm>
          <a:prstGeom prst="rect">
            <a:avLst/>
          </a:prstGeom>
          <a:solidFill>
            <a:srgbClr val="C8A26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937759" y="6574536"/>
            <a:ext cx="237744" cy="118872"/>
          </a:xfrm>
          <a:prstGeom prst="rect">
            <a:avLst/>
          </a:prstGeom>
          <a:solidFill>
            <a:srgbClr val="C8A26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468112" y="6574536"/>
            <a:ext cx="237744" cy="118872"/>
          </a:xfrm>
          <a:prstGeom prst="rect">
            <a:avLst/>
          </a:prstGeom>
          <a:solidFill>
            <a:srgbClr val="C8A26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998464" y="6574536"/>
            <a:ext cx="237744" cy="118872"/>
          </a:xfrm>
          <a:prstGeom prst="rect">
            <a:avLst/>
          </a:prstGeom>
          <a:solidFill>
            <a:srgbClr val="C8A26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528815" y="6574536"/>
            <a:ext cx="237744" cy="118872"/>
          </a:xfrm>
          <a:prstGeom prst="rect">
            <a:avLst/>
          </a:prstGeom>
          <a:solidFill>
            <a:srgbClr val="C8A26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059167" y="6574536"/>
            <a:ext cx="237744" cy="118872"/>
          </a:xfrm>
          <a:prstGeom prst="rect">
            <a:avLst/>
          </a:prstGeom>
          <a:solidFill>
            <a:srgbClr val="C8A26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589519" y="6574536"/>
            <a:ext cx="237744" cy="118872"/>
          </a:xfrm>
          <a:prstGeom prst="rect">
            <a:avLst/>
          </a:prstGeom>
          <a:solidFill>
            <a:srgbClr val="C8A26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119871" y="6574536"/>
            <a:ext cx="237744" cy="118872"/>
          </a:xfrm>
          <a:prstGeom prst="rect">
            <a:avLst/>
          </a:prstGeom>
          <a:solidFill>
            <a:srgbClr val="C8A26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650224" y="6574536"/>
            <a:ext cx="237744" cy="118872"/>
          </a:xfrm>
          <a:prstGeom prst="rect">
            <a:avLst/>
          </a:prstGeom>
          <a:solidFill>
            <a:srgbClr val="C8A26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180576" y="6574536"/>
            <a:ext cx="237744" cy="118872"/>
          </a:xfrm>
          <a:prstGeom prst="rect">
            <a:avLst/>
          </a:prstGeom>
          <a:solidFill>
            <a:srgbClr val="C8A26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710928" y="6574536"/>
            <a:ext cx="237744" cy="118872"/>
          </a:xfrm>
          <a:prstGeom prst="rect">
            <a:avLst/>
          </a:prstGeom>
          <a:solidFill>
            <a:srgbClr val="C8A26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0241280" y="6574536"/>
            <a:ext cx="237744" cy="118872"/>
          </a:xfrm>
          <a:prstGeom prst="rect">
            <a:avLst/>
          </a:prstGeom>
          <a:solidFill>
            <a:srgbClr val="C8A26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0771632" y="6574536"/>
            <a:ext cx="237744" cy="118872"/>
          </a:xfrm>
          <a:prstGeom prst="rect">
            <a:avLst/>
          </a:prstGeom>
          <a:solidFill>
            <a:srgbClr val="C8A26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1301984" y="6574536"/>
            <a:ext cx="237744" cy="118872"/>
          </a:xfrm>
          <a:prstGeom prst="rect">
            <a:avLst/>
          </a:prstGeom>
          <a:solidFill>
            <a:srgbClr val="C8A26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1832336" y="6574536"/>
            <a:ext cx="237744" cy="118872"/>
          </a:xfrm>
          <a:prstGeom prst="rect">
            <a:avLst/>
          </a:prstGeom>
          <a:solidFill>
            <a:srgbClr val="C8A26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77240" y="1188720"/>
            <a:ext cx="365760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200" b="0" i="0">
                <a:solidFill>
                  <a:srgbClr val="6E5C39"/>
                </a:solidFill>
                <a:latin typeface="Noto Serif CJK SC"/>
                <a:ea typeface="Noto Serif CJK SC"/>
              </a:rPr>
              <a:t>03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160520" y="1481328"/>
            <a:ext cx="27432" cy="1828800"/>
          </a:xfrm>
          <a:prstGeom prst="rect">
            <a:avLst/>
          </a:prstGeom>
          <a:solidFill>
            <a:srgbClr val="C8A2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26280" y="1417320"/>
            <a:ext cx="6583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0" i="0" spc="200">
                <a:solidFill>
                  <a:srgbClr val="C8A264"/>
                </a:solidFill>
                <a:latin typeface="Noto Sans CJK SC"/>
                <a:ea typeface="Noto Sans CJK SC"/>
              </a:rPr>
              <a:t>PART 03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26280" y="1783080"/>
            <a:ext cx="67665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4200" b="0" i="0">
                <a:solidFill>
                  <a:srgbClr val="EEE8DC"/>
                </a:solidFill>
                <a:latin typeface="Noto Serif CJK SC"/>
                <a:ea typeface="Noto Serif CJK SC"/>
              </a:rPr>
              <a:t>一次显影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26280" y="2651760"/>
            <a:ext cx="6766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 i="0">
                <a:solidFill>
                  <a:srgbClr val="9C958A"/>
                </a:solidFill>
                <a:latin typeface="Noto Sans CJK SC"/>
                <a:ea typeface="Noto Sans CJK SC"/>
              </a:rPr>
              <a:t>光、色、声，如何替历史说话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26280" y="3977639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 i="0" spc="60">
                <a:solidFill>
                  <a:srgbClr val="C8A264"/>
                </a:solidFill>
                <a:latin typeface="Noto Sans CJK SC"/>
                <a:ea typeface="Noto Sans CJK SC"/>
              </a:rPr>
              <a:t>色调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760720" y="3977639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 i="0">
                <a:solidFill>
                  <a:srgbClr val="C9C2B4"/>
                </a:solidFill>
                <a:latin typeface="Noto Sans CJK SC"/>
                <a:ea typeface="Noto Sans CJK SC"/>
              </a:rPr>
              <a:t>近乎全片的低饱和冷色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26280" y="4251959"/>
            <a:ext cx="6309360" cy="10972"/>
          </a:xfrm>
          <a:prstGeom prst="rect">
            <a:avLst/>
          </a:prstGeom>
          <a:solidFill>
            <a:srgbClr val="322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526280" y="4480559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 i="0" spc="60">
                <a:solidFill>
                  <a:srgbClr val="C8A264"/>
                </a:solidFill>
                <a:latin typeface="Noto Sans CJK SC"/>
                <a:ea typeface="Noto Sans CJK SC"/>
              </a:rPr>
              <a:t>唯一暖光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760720" y="4480559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 i="0">
                <a:solidFill>
                  <a:srgbClr val="C9C2B4"/>
                </a:solidFill>
                <a:latin typeface="Noto Sans CJK SC"/>
                <a:ea typeface="Noto Sans CJK SC"/>
              </a:rPr>
              <a:t>暗房里的红灯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526280" y="4754879"/>
            <a:ext cx="6309360" cy="10972"/>
          </a:xfrm>
          <a:prstGeom prst="rect">
            <a:avLst/>
          </a:prstGeom>
          <a:solidFill>
            <a:srgbClr val="322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526280" y="4983479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 i="0" spc="60">
                <a:solidFill>
                  <a:srgbClr val="C8A264"/>
                </a:solidFill>
                <a:latin typeface="Noto Sans CJK SC"/>
                <a:ea typeface="Noto Sans CJK SC"/>
              </a:rPr>
              <a:t>一次爆发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760720" y="4983479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 i="0">
                <a:solidFill>
                  <a:srgbClr val="C9C2B4"/>
                </a:solidFill>
                <a:latin typeface="Noto Sans CJK SC"/>
                <a:ea typeface="Noto Sans CJK SC"/>
              </a:rPr>
              <a:t>手绘山河背景布展开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526280" y="5257799"/>
            <a:ext cx="6309360" cy="10972"/>
          </a:xfrm>
          <a:prstGeom prst="rect">
            <a:avLst/>
          </a:prstGeom>
          <a:solidFill>
            <a:srgbClr val="322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526280" y="5486399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 i="0" spc="60">
                <a:solidFill>
                  <a:srgbClr val="C8A264"/>
                </a:solidFill>
                <a:latin typeface="Noto Sans CJK SC"/>
                <a:ea typeface="Noto Sans CJK SC"/>
              </a:rPr>
              <a:t>声音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760720" y="5486399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 i="0">
                <a:solidFill>
                  <a:srgbClr val="C9C2B4"/>
                </a:solidFill>
                <a:latin typeface="Noto Sans CJK SC"/>
                <a:ea typeface="Noto Sans CJK SC"/>
              </a:rPr>
              <a:t>方言、环境声、留白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526280" y="5760719"/>
            <a:ext cx="6309360" cy="10972"/>
          </a:xfrm>
          <a:prstGeom prst="rect">
            <a:avLst/>
          </a:prstGeom>
          <a:solidFill>
            <a:srgbClr val="322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921240" y="6382512"/>
            <a:ext cx="149047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850" b="0" i="0" spc="40">
                <a:solidFill>
                  <a:srgbClr val="9C958A"/>
                </a:solidFill>
                <a:latin typeface="Noto Sans CJK SC"/>
                <a:ea typeface="Noto Sans CJK SC"/>
              </a:rPr>
              <a:t>13 / 27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B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03504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0" i="0" spc="150">
                <a:solidFill>
                  <a:srgbClr val="C8A264"/>
                </a:solidFill>
                <a:latin typeface="Noto Sans CJK SC"/>
                <a:ea typeface="Noto Sans CJK SC"/>
              </a:rPr>
              <a:t>03 · 一次显影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96112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0" i="0">
                <a:solidFill>
                  <a:srgbClr val="EEE8DC"/>
                </a:solidFill>
                <a:latin typeface="Noto Serif CJK SC"/>
                <a:ea typeface="Noto Serif CJK SC"/>
              </a:rPr>
              <a:t>冷色，和唯一的红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645920"/>
            <a:ext cx="777240" cy="22860"/>
          </a:xfrm>
          <a:prstGeom prst="rect">
            <a:avLst/>
          </a:prstGeom>
          <a:solidFill>
            <a:srgbClr val="C8A2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75104"/>
            <a:ext cx="576072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lnSpc>
                <a:spcPct val="138000"/>
              </a:lnSpc>
              <a:spcAft>
                <a:spcPts val="1200"/>
              </a:spcAft>
            </a:pPr>
            <a:r>
              <a:rPr sz="1400">
                <a:solidFill>
                  <a:srgbClr val="C8A264"/>
                </a:solidFill>
                <a:latin typeface="Noto Sans CJK SC"/>
                <a:ea typeface="Noto Sans CJK SC"/>
              </a:rPr>
              <a:t>— </a:t>
            </a:r>
            <a:r>
              <a:rPr sz="1400" b="1">
                <a:solidFill>
                  <a:srgbClr val="EEE8DC"/>
                </a:solidFill>
                <a:latin typeface="Noto Sans CJK SC"/>
                <a:ea typeface="Noto Sans CJK SC"/>
              </a:rPr>
              <a:t>低饱和冷调</a:t>
            </a:r>
            <a:r>
              <a:rPr sz="1400">
                <a:solidFill>
                  <a:srgbClr val="C9C2B4"/>
                </a:solidFill>
                <a:latin typeface="Noto Sans CJK SC"/>
                <a:ea typeface="Noto Sans CJK SC"/>
              </a:rPr>
              <a:t>：灰黑城墙、深绿军装、蒙尘的衣裳。</a:t>
            </a:r>
          </a:p>
          <a:p>
            <a:pPr marL="274320" indent="-274320">
              <a:lnSpc>
                <a:spcPct val="138000"/>
              </a:lnSpc>
              <a:spcAft>
                <a:spcPts val="1200"/>
              </a:spcAft>
            </a:pPr>
            <a:r>
              <a:rPr sz="1400">
                <a:solidFill>
                  <a:srgbClr val="C8A264"/>
                </a:solidFill>
                <a:latin typeface="Noto Sans CJK SC"/>
                <a:ea typeface="Noto Sans CJK SC"/>
              </a:rPr>
              <a:t>— </a:t>
            </a:r>
            <a:r>
              <a:rPr sz="1400" b="1">
                <a:solidFill>
                  <a:srgbClr val="EEE8DC"/>
                </a:solidFill>
                <a:latin typeface="Noto Sans CJK SC"/>
                <a:ea typeface="Noto Sans CJK SC"/>
              </a:rPr>
              <a:t>暗房红光</a:t>
            </a:r>
            <a:r>
              <a:rPr sz="1400">
                <a:solidFill>
                  <a:srgbClr val="C9C2B4"/>
                </a:solidFill>
                <a:latin typeface="Noto Sans CJK SC"/>
                <a:ea typeface="Noto Sans CJK SC"/>
              </a:rPr>
              <a:t>：全片最暖的光，却来自冲洗罪证的地方。</a:t>
            </a:r>
          </a:p>
          <a:p>
            <a:pPr marL="274320" indent="-274320">
              <a:lnSpc>
                <a:spcPct val="138000"/>
              </a:lnSpc>
              <a:spcAft>
                <a:spcPts val="1200"/>
              </a:spcAft>
            </a:pPr>
            <a:r>
              <a:rPr sz="1400">
                <a:solidFill>
                  <a:srgbClr val="C8A264"/>
                </a:solidFill>
                <a:latin typeface="Noto Sans CJK SC"/>
                <a:ea typeface="Noto Sans CJK SC"/>
              </a:rPr>
              <a:t>— </a:t>
            </a:r>
            <a:r>
              <a:rPr sz="1400" b="1">
                <a:solidFill>
                  <a:srgbClr val="EEE8DC"/>
                </a:solidFill>
                <a:latin typeface="Noto Sans CJK SC"/>
                <a:ea typeface="Noto Sans CJK SC"/>
              </a:rPr>
              <a:t>手持与摇晃</a:t>
            </a:r>
            <a:r>
              <a:rPr sz="1400">
                <a:solidFill>
                  <a:srgbClr val="C9C2B4"/>
                </a:solidFill>
                <a:latin typeface="Noto Sans CJK SC"/>
                <a:ea typeface="Noto Sans CJK SC"/>
              </a:rPr>
              <a:t>：让画面像目击，而不是观看。</a:t>
            </a:r>
          </a:p>
          <a:p>
            <a:pPr marL="274320" indent="-274320">
              <a:lnSpc>
                <a:spcPct val="138000"/>
              </a:lnSpc>
              <a:spcAft>
                <a:spcPts val="1200"/>
              </a:spcAft>
            </a:pPr>
            <a:r>
              <a:rPr sz="1400">
                <a:solidFill>
                  <a:srgbClr val="C8A264"/>
                </a:solidFill>
                <a:latin typeface="Noto Sans CJK SC"/>
                <a:ea typeface="Noto Sans CJK SC"/>
              </a:rPr>
              <a:t>— </a:t>
            </a:r>
            <a:r>
              <a:rPr sz="1400" b="1">
                <a:solidFill>
                  <a:srgbClr val="EEE8DC"/>
                </a:solidFill>
                <a:latin typeface="Noto Sans CJK SC"/>
                <a:ea typeface="Noto Sans CJK SC"/>
              </a:rPr>
              <a:t>克制</a:t>
            </a:r>
            <a:r>
              <a:rPr sz="1400">
                <a:solidFill>
                  <a:srgbClr val="C9C2B4"/>
                </a:solidFill>
                <a:latin typeface="Noto Sans CJK SC"/>
                <a:ea typeface="Noto Sans CJK SC"/>
              </a:rPr>
              <a:t>：暴力大多留在画外，靠声音与影子完成。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6400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50" b="0" i="0" spc="60">
                <a:solidFill>
                  <a:srgbClr val="9C958A"/>
                </a:solidFill>
                <a:latin typeface="Noto Sans CJK SC"/>
                <a:ea typeface="Noto Sans CJK SC"/>
              </a:rPr>
              <a:t>03 · 一次显影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21240" y="6382512"/>
            <a:ext cx="149047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850" b="0" i="0" spc="40">
                <a:solidFill>
                  <a:srgbClr val="9C958A"/>
                </a:solidFill>
                <a:latin typeface="Noto Sans CJK SC"/>
                <a:ea typeface="Noto Sans CJK SC"/>
              </a:rPr>
              <a:t>14 / 27</a:t>
            </a:r>
          </a:p>
        </p:txBody>
      </p:sp>
      <p:pic>
        <p:nvPicPr>
          <p:cNvPr id="11" name="Picture 10" descr="image6.jpg"/>
          <p:cNvPicPr>
            <a:picLocks noChangeAspect="1"/>
          </p:cNvPicPr>
          <p:nvPr/>
        </p:nvPicPr>
        <p:blipFill>
          <a:blip r:embed="rId4"/>
          <a:srcRect l="21410" r="21410"/>
          <a:stretch>
            <a:fillRect/>
          </a:stretch>
        </p:blipFill>
        <p:spPr>
          <a:xfrm>
            <a:off x="6967728" y="0"/>
            <a:ext cx="5223967" cy="6858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921240" y="6382512"/>
            <a:ext cx="149047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55000"/>
              </a:lnSpc>
            </a:pPr>
            <a:r>
              <a:rPr sz="850" spc="40">
                <a:solidFill>
                  <a:srgbClr val="D9C9B4"/>
                </a:solidFill>
                <a:latin typeface="Noto Sans CJK SC"/>
                <a:ea typeface="Noto Sans CJK SC"/>
              </a:rPr>
              <a:t>14 / 27</a:t>
            </a:r>
          </a:p>
        </p:txBody>
      </p:sp>
      <p:sp>
        <p:nvSpPr>
          <p:cNvPr id="7" name="Rectangle 6"/>
          <p:cNvSpPr/>
          <p:nvPr/>
        </p:nvSpPr>
        <p:spPr>
          <a:xfrm>
            <a:off x="6965899" y="0"/>
            <a:ext cx="18288" cy="6858000"/>
          </a:xfrm>
          <a:prstGeom prst="rect">
            <a:avLst/>
          </a:prstGeom>
          <a:solidFill>
            <a:srgbClr val="6E5C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0" y="6473952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50" b="0" i="0">
                <a:solidFill>
                  <a:srgbClr val="D9C9B4"/>
                </a:solidFill>
                <a:latin typeface="Noto Sans CJK SC"/>
                <a:ea typeface="Noto Sans CJK SC"/>
              </a:rPr>
              <a:t>剧照：暗房中的阿昌 ｜ 版权归片方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B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03504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0" i="0" spc="150">
                <a:solidFill>
                  <a:srgbClr val="C8A264"/>
                </a:solidFill>
                <a:latin typeface="Noto Sans CJK SC"/>
                <a:ea typeface="Noto Sans CJK SC"/>
              </a:rPr>
              <a:t>03 · 一次显影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96112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0" i="0">
                <a:solidFill>
                  <a:srgbClr val="EEE8DC"/>
                </a:solidFill>
                <a:latin typeface="Noto Serif CJK SC"/>
                <a:ea typeface="Noto Serif CJK SC"/>
              </a:rPr>
              <a:t>一卷手绘山河，是全片最饱和的一刻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645920"/>
            <a:ext cx="777240" cy="22860"/>
          </a:xfrm>
          <a:prstGeom prst="rect">
            <a:avLst/>
          </a:prstGeom>
          <a:solidFill>
            <a:srgbClr val="C8A2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57400"/>
            <a:ext cx="3401568" cy="2697480"/>
          </a:xfrm>
          <a:prstGeom prst="rect">
            <a:avLst/>
          </a:prstGeom>
          <a:solidFill>
            <a:srgbClr val="8C2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331720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400" b="0" i="0">
                <a:solidFill>
                  <a:srgbClr val="EEE8DC"/>
                </a:solidFill>
                <a:latin typeface="Noto Serif CJK SC"/>
                <a:ea typeface="Noto Serif CJK SC"/>
              </a:rPr>
              <a:t>故宫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907792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0" i="0" spc="120">
                <a:solidFill>
                  <a:srgbClr val="EEE8DC"/>
                </a:solidFill>
                <a:latin typeface="Noto Sans CJK SC"/>
                <a:ea typeface="Noto Sans CJK SC"/>
              </a:rPr>
              <a:t>朱红</a:t>
            </a:r>
          </a:p>
        </p:txBody>
      </p:sp>
      <p:sp>
        <p:nvSpPr>
          <p:cNvPr id="8" name="Rectangle 7"/>
          <p:cNvSpPr/>
          <p:nvPr/>
        </p:nvSpPr>
        <p:spPr>
          <a:xfrm>
            <a:off x="4279392" y="2057400"/>
            <a:ext cx="3401568" cy="2697480"/>
          </a:xfrm>
          <a:prstGeom prst="rect">
            <a:avLst/>
          </a:prstGeom>
          <a:solidFill>
            <a:srgbClr val="2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9431" y="2331720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400" b="0" i="0">
                <a:solidFill>
                  <a:srgbClr val="EEE8DC"/>
                </a:solidFill>
                <a:latin typeface="Noto Serif CJK SC"/>
                <a:ea typeface="Noto Serif CJK SC"/>
              </a:rPr>
              <a:t>西湖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9431" y="2907792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0" i="0" spc="120">
                <a:solidFill>
                  <a:srgbClr val="EEE8DC"/>
                </a:solidFill>
                <a:latin typeface="Noto Sans CJK SC"/>
                <a:ea typeface="Noto Sans CJK SC"/>
              </a:rPr>
              <a:t>碧波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81544" y="2057400"/>
            <a:ext cx="3401568" cy="2697480"/>
          </a:xfrm>
          <a:prstGeom prst="rect">
            <a:avLst/>
          </a:prstGeom>
          <a:solidFill>
            <a:srgbClr val="465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01583" y="2331720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400" b="0" i="0">
                <a:solidFill>
                  <a:srgbClr val="EEE8DC"/>
                </a:solidFill>
                <a:latin typeface="Noto Serif CJK SC"/>
                <a:ea typeface="Noto Serif CJK SC"/>
              </a:rPr>
              <a:t>长城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01583" y="2907792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0" i="0" spc="120">
                <a:solidFill>
                  <a:srgbClr val="EEE8DC"/>
                </a:solidFill>
                <a:latin typeface="Noto Sans CJK SC"/>
                <a:ea typeface="Noto Sans CJK SC"/>
              </a:rPr>
              <a:t>青砖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83480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  <a:spcAft>
                <a:spcPts val="0"/>
              </a:spcAft>
            </a:pPr>
            <a:r>
              <a:rPr sz="1400" b="0" i="0">
                <a:solidFill>
                  <a:srgbClr val="C9C2B4"/>
                </a:solidFill>
                <a:latin typeface="Noto Sans CJK SC"/>
                <a:ea typeface="Noto Sans CJK SC"/>
              </a:rPr>
              <a:t>背景布展开之前，画面几乎只有灰；展开之后，颜色回来了。</a:t>
            </a:r>
          </a:p>
          <a:p>
            <a:pPr algn="l">
              <a:lnSpc>
                <a:spcPct val="170000"/>
              </a:lnSpc>
              <a:spcAft>
                <a:spcPts val="0"/>
              </a:spcAft>
            </a:pPr>
            <a:r>
              <a:rPr sz="1400" b="0" i="0">
                <a:solidFill>
                  <a:srgbClr val="C9C2B4"/>
                </a:solidFill>
                <a:latin typeface="Noto Sans CJK SC"/>
                <a:ea typeface="Noto Sans CJK SC"/>
              </a:rPr>
              <a:t>那是他们拼死也要守住的东西——不是抽象的「国家」，是一张具体的山河。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382512"/>
            <a:ext cx="6400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50" b="0" i="0" spc="60">
                <a:solidFill>
                  <a:srgbClr val="9C958A"/>
                </a:solidFill>
                <a:latin typeface="Noto Sans CJK SC"/>
                <a:ea typeface="Noto Sans CJK SC"/>
              </a:rPr>
              <a:t>03 · 一次显影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382512"/>
            <a:ext cx="149047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850" b="0" i="0" spc="40">
                <a:solidFill>
                  <a:srgbClr val="9C958A"/>
                </a:solidFill>
                <a:latin typeface="Noto Sans CJK SC"/>
                <a:ea typeface="Noto Sans CJK SC"/>
              </a:rPr>
              <a:t>15 / 27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B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03504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0" i="0" spc="150">
                <a:solidFill>
                  <a:srgbClr val="C8A264"/>
                </a:solidFill>
                <a:latin typeface="Noto Sans CJK SC"/>
                <a:ea typeface="Noto Sans CJK SC"/>
              </a:rPr>
              <a:t>03 · 一次显影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96112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0" i="0">
                <a:solidFill>
                  <a:srgbClr val="EEE8DC"/>
                </a:solidFill>
                <a:latin typeface="Noto Serif CJK SC"/>
                <a:ea typeface="Noto Serif CJK SC"/>
              </a:rPr>
              <a:t>声音：方言、静默、留白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645920"/>
            <a:ext cx="777240" cy="22860"/>
          </a:xfrm>
          <a:prstGeom prst="rect">
            <a:avLst/>
          </a:prstGeom>
          <a:solidFill>
            <a:srgbClr val="C8A2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659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 i="0" spc="80">
                <a:solidFill>
                  <a:srgbClr val="6E5C39"/>
                </a:solidFill>
                <a:latin typeface="Noto Sans CJK SC"/>
                <a:ea typeface="Noto Sans CJK SC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40280"/>
            <a:ext cx="31089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900" b="0" i="0">
                <a:solidFill>
                  <a:srgbClr val="EEE8DC"/>
                </a:solidFill>
                <a:latin typeface="Noto Serif CJK SC"/>
                <a:ea typeface="Noto Serif CJK SC"/>
              </a:rPr>
              <a:t>方言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697480"/>
            <a:ext cx="3154680" cy="10972"/>
          </a:xfrm>
          <a:prstGeom prst="rect">
            <a:avLst/>
          </a:prstGeom>
          <a:solidFill>
            <a:srgbClr val="322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834640"/>
            <a:ext cx="3127248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  <a:spcAft>
                <a:spcPts val="0"/>
              </a:spcAft>
            </a:pPr>
            <a:r>
              <a:rPr sz="1250" b="0" i="0">
                <a:solidFill>
                  <a:srgbClr val="C9C2B4"/>
                </a:solidFill>
                <a:latin typeface="Noto Sans CJK SC"/>
                <a:ea typeface="Noto Sans CJK SC"/>
              </a:rPr>
              <a:t>南京籍演员说南京话，上海籍、北方籍演员各说各的口音，让这座城有它真实的声音。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0832" y="19659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 i="0" spc="80">
                <a:solidFill>
                  <a:srgbClr val="6E5C39"/>
                </a:solidFill>
                <a:latin typeface="Noto Sans CJK SC"/>
                <a:ea typeface="Noto Sans CJK SC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70832" y="2240280"/>
            <a:ext cx="31089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900" b="0" i="0">
                <a:solidFill>
                  <a:srgbClr val="EEE8DC"/>
                </a:solidFill>
                <a:latin typeface="Noto Serif CJK SC"/>
                <a:ea typeface="Noto Serif CJK SC"/>
              </a:rPr>
              <a:t>静默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70832" y="2697480"/>
            <a:ext cx="3154680" cy="10972"/>
          </a:xfrm>
          <a:prstGeom prst="rect">
            <a:avLst/>
          </a:prstGeom>
          <a:solidFill>
            <a:srgbClr val="322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70832" y="2834640"/>
            <a:ext cx="3127248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  <a:spcAft>
                <a:spcPts val="0"/>
              </a:spcAft>
            </a:pPr>
            <a:r>
              <a:rPr sz="1250" b="0" i="0">
                <a:solidFill>
                  <a:srgbClr val="C9C2B4"/>
                </a:solidFill>
                <a:latin typeface="Noto Sans CJK SC"/>
                <a:ea typeface="Noto Sans CJK SC"/>
              </a:rPr>
              <a:t>越重的段落，越少给配乐。情绪由处境推着走，而不是被音乐推着走。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64424" y="19659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 i="0" spc="80">
                <a:solidFill>
                  <a:srgbClr val="6E5C39"/>
                </a:solidFill>
                <a:latin typeface="Noto Sans CJK SC"/>
                <a:ea typeface="Noto Sans CJK SC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64424" y="2240280"/>
            <a:ext cx="31089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900" b="0" i="0">
                <a:solidFill>
                  <a:srgbClr val="EEE8DC"/>
                </a:solidFill>
                <a:latin typeface="Noto Serif CJK SC"/>
                <a:ea typeface="Noto Serif CJK SC"/>
              </a:rPr>
              <a:t>环境声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64424" y="2697480"/>
            <a:ext cx="3154680" cy="10972"/>
          </a:xfrm>
          <a:prstGeom prst="rect">
            <a:avLst/>
          </a:prstGeom>
          <a:solidFill>
            <a:srgbClr val="322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64424" y="2834640"/>
            <a:ext cx="3127248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  <a:spcAft>
                <a:spcPts val="0"/>
              </a:spcAft>
            </a:pPr>
            <a:r>
              <a:rPr sz="1250" b="0" i="0">
                <a:solidFill>
                  <a:srgbClr val="C9C2B4"/>
                </a:solidFill>
                <a:latin typeface="Noto Sans CJK SC"/>
                <a:ea typeface="Noto Sans CJK SC"/>
              </a:rPr>
              <a:t>快门、显影液、脚步、风声——恐惧被放进日常的声响里。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160520"/>
            <a:ext cx="10561320" cy="10972"/>
          </a:xfrm>
          <a:prstGeom prst="rect">
            <a:avLst/>
          </a:prstGeom>
          <a:solidFill>
            <a:srgbClr val="322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389120"/>
            <a:ext cx="9692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500" b="0" i="0">
                <a:solidFill>
                  <a:srgbClr val="EEE8DC"/>
                </a:solidFill>
                <a:latin typeface="Noto Serif CJK SC"/>
                <a:ea typeface="Noto Serif CJK SC"/>
              </a:rPr>
              <a:t>「南京不只有南京人，南京也是中国人的南京。」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983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 i="0" spc="40">
                <a:solidFill>
                  <a:srgbClr val="C8A264"/>
                </a:solidFill>
                <a:latin typeface="Noto Sans CJK SC"/>
                <a:ea typeface="Noto Sans CJK SC"/>
              </a:rPr>
              <a:t>—— 导演 申奥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66928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50" b="0" i="0">
                <a:solidFill>
                  <a:srgbClr val="9C958A"/>
                </a:solidFill>
                <a:latin typeface="Noto Sans CJK SC"/>
                <a:ea typeface="Noto Sans CJK SC"/>
              </a:rPr>
              <a:t>本页为观影分析，非官方创作说明。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6382512"/>
            <a:ext cx="6400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50" b="0" i="0" spc="60">
                <a:solidFill>
                  <a:srgbClr val="9C958A"/>
                </a:solidFill>
                <a:latin typeface="Noto Sans CJK SC"/>
                <a:ea typeface="Noto Sans CJK SC"/>
              </a:rPr>
              <a:t>03 · 一次显影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21240" y="6382512"/>
            <a:ext cx="149047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850" b="0" i="0" spc="40">
                <a:solidFill>
                  <a:srgbClr val="9C958A"/>
                </a:solidFill>
                <a:latin typeface="Noto Sans CJK SC"/>
                <a:ea typeface="Noto Sans CJK SC"/>
              </a:rPr>
              <a:t>16 / 27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B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03504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0" i="0" spc="150">
                <a:solidFill>
                  <a:srgbClr val="C8A264"/>
                </a:solidFill>
                <a:latin typeface="Noto Sans CJK SC"/>
                <a:ea typeface="Noto Sans CJK SC"/>
              </a:rPr>
              <a:t>03 · 一次显影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96112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0" i="0">
                <a:solidFill>
                  <a:srgbClr val="EEE8DC"/>
                </a:solidFill>
                <a:latin typeface="Noto Serif CJK SC"/>
                <a:ea typeface="Noto Serif CJK SC"/>
              </a:rPr>
              <a:t>照片，是舆论战的武器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645920"/>
            <a:ext cx="777240" cy="22860"/>
          </a:xfrm>
          <a:prstGeom prst="rect">
            <a:avLst/>
          </a:prstGeom>
          <a:solidFill>
            <a:srgbClr val="C8A2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874519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3000" b="0" i="0">
                <a:solidFill>
                  <a:srgbClr val="EEE8DC"/>
                </a:solidFill>
                <a:latin typeface="Noto Serif CJK SC"/>
                <a:ea typeface="Noto Serif CJK SC"/>
              </a:rPr>
              <a:t>「照片是舆论战的武器，我要把这个拍透彻。」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6974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 i="0" spc="40">
                <a:solidFill>
                  <a:srgbClr val="C8A264"/>
                </a:solidFill>
                <a:latin typeface="Noto Sans CJK SC"/>
                <a:ea typeface="Noto Sans CJK SC"/>
              </a:rPr>
              <a:t>—— 导演 申奥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3566160"/>
            <a:ext cx="3246120" cy="10972"/>
          </a:xfrm>
          <a:prstGeom prst="rect">
            <a:avLst/>
          </a:prstGeom>
          <a:solidFill>
            <a:srgbClr val="322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675887"/>
            <a:ext cx="3108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 i="0">
                <a:solidFill>
                  <a:srgbClr val="C8A264"/>
                </a:solidFill>
                <a:latin typeface="Noto Serif CJK SC"/>
                <a:ea typeface="Noto Serif CJK SC"/>
              </a:rPr>
              <a:t>谁在拍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096512"/>
            <a:ext cx="30632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5000"/>
              </a:lnSpc>
              <a:spcAft>
                <a:spcPts val="0"/>
              </a:spcAft>
            </a:pPr>
            <a:r>
              <a:rPr sz="1250" b="0" i="0">
                <a:solidFill>
                  <a:srgbClr val="C9C2B4"/>
                </a:solidFill>
                <a:latin typeface="Noto Sans CJK SC"/>
                <a:ea typeface="Noto Sans CJK SC"/>
              </a:rPr>
              <a:t>施暴者按下快门，本想留下「战功」。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33672" y="3566160"/>
            <a:ext cx="3246120" cy="10972"/>
          </a:xfrm>
          <a:prstGeom prst="rect">
            <a:avLst/>
          </a:prstGeom>
          <a:solidFill>
            <a:srgbClr val="322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33672" y="3675887"/>
            <a:ext cx="3108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 i="0">
                <a:solidFill>
                  <a:srgbClr val="C8A264"/>
                </a:solidFill>
                <a:latin typeface="Noto Serif CJK SC"/>
                <a:ea typeface="Noto Serif CJK SC"/>
              </a:rPr>
              <a:t>谁在洗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33672" y="4096512"/>
            <a:ext cx="30632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5000"/>
              </a:lnSpc>
              <a:spcAft>
                <a:spcPts val="0"/>
              </a:spcAft>
            </a:pPr>
            <a:r>
              <a:rPr sz="1250" b="0" i="0">
                <a:solidFill>
                  <a:srgbClr val="C9C2B4"/>
                </a:solidFill>
                <a:latin typeface="Noto Sans CJK SC"/>
                <a:ea typeface="Noto Sans CJK SC"/>
              </a:rPr>
              <a:t>中国人被迫冲洗，却在显影液里看见真相。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90104" y="3566160"/>
            <a:ext cx="3246120" cy="10972"/>
          </a:xfrm>
          <a:prstGeom prst="rect">
            <a:avLst/>
          </a:prstGeom>
          <a:solidFill>
            <a:srgbClr val="322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90104" y="3675887"/>
            <a:ext cx="3108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 i="0">
                <a:solidFill>
                  <a:srgbClr val="C8A264"/>
                </a:solidFill>
                <a:latin typeface="Noto Serif CJK SC"/>
                <a:ea typeface="Noto Serif CJK SC"/>
              </a:rPr>
              <a:t>谁在看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0104" y="4096512"/>
            <a:ext cx="30632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5000"/>
              </a:lnSpc>
              <a:spcAft>
                <a:spcPts val="0"/>
              </a:spcAft>
            </a:pPr>
            <a:r>
              <a:rPr sz="1250" b="0" i="0">
                <a:solidFill>
                  <a:srgbClr val="C9C2B4"/>
                </a:solidFill>
                <a:latin typeface="Noto Sans CJK SC"/>
                <a:ea typeface="Noto Sans CJK SC"/>
              </a:rPr>
              <a:t>法庭、世界，以及八十年后的我们。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5321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 i="0">
                <a:solidFill>
                  <a:srgbClr val="9C958A"/>
                </a:solidFill>
                <a:latin typeface="Noto Sans CJK SC"/>
                <a:ea typeface="Noto Sans CJK SC"/>
              </a:rPr>
              <a:t>影片把「影像」本身变成了战场：拍、洗、看，每一步都是争夺。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6382512"/>
            <a:ext cx="6400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50" b="0" i="0" spc="60">
                <a:solidFill>
                  <a:srgbClr val="9C958A"/>
                </a:solidFill>
                <a:latin typeface="Noto Sans CJK SC"/>
                <a:ea typeface="Noto Sans CJK SC"/>
              </a:rPr>
              <a:t>03 · 一次显影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21240" y="6382512"/>
            <a:ext cx="149047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850" b="0" i="0" spc="40">
                <a:solidFill>
                  <a:srgbClr val="9C958A"/>
                </a:solidFill>
                <a:latin typeface="Noto Sans CJK SC"/>
                <a:ea typeface="Noto Sans CJK SC"/>
              </a:rPr>
              <a:t>17 / 27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B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03504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0" i="0" spc="150">
                <a:solidFill>
                  <a:srgbClr val="C8A264"/>
                </a:solidFill>
                <a:latin typeface="Noto Sans CJK SC"/>
                <a:ea typeface="Noto Sans CJK SC"/>
              </a:rPr>
              <a:t>03 · 一次显影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96112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0" i="0">
                <a:solidFill>
                  <a:srgbClr val="EEE8DC"/>
                </a:solidFill>
                <a:latin typeface="Noto Serif CJK SC"/>
                <a:ea typeface="Noto Serif CJK SC"/>
              </a:rPr>
              <a:t>王广海：选择的反面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645920"/>
            <a:ext cx="777240" cy="22860"/>
          </a:xfrm>
          <a:prstGeom prst="rect">
            <a:avLst/>
          </a:prstGeom>
          <a:solidFill>
            <a:srgbClr val="C8A2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011680"/>
            <a:ext cx="594360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lnSpc>
                <a:spcPct val="138000"/>
              </a:lnSpc>
              <a:spcAft>
                <a:spcPts val="1400"/>
              </a:spcAft>
            </a:pPr>
            <a:r>
              <a:rPr sz="1450">
                <a:solidFill>
                  <a:srgbClr val="C8A264"/>
                </a:solidFill>
                <a:latin typeface="Noto Sans CJK SC"/>
                <a:ea typeface="Noto Sans CJK SC"/>
              </a:rPr>
              <a:t>— </a:t>
            </a:r>
            <a:r>
              <a:rPr sz="1450" b="1">
                <a:solidFill>
                  <a:srgbClr val="EEE8DC"/>
                </a:solidFill>
                <a:latin typeface="Noto Sans CJK SC"/>
                <a:ea typeface="Noto Sans CJK SC"/>
              </a:rPr>
              <a:t>他是日语翻译</a:t>
            </a:r>
            <a:r>
              <a:rPr sz="1450">
                <a:solidFill>
                  <a:srgbClr val="C9C2B4"/>
                </a:solidFill>
                <a:latin typeface="Noto Sans CJK SC"/>
                <a:ea typeface="Noto Sans CJK SC"/>
              </a:rPr>
              <a:t>，想靠投靠日军换一条活路。</a:t>
            </a:r>
          </a:p>
          <a:p>
            <a:pPr marL="274320" indent="-274320">
              <a:lnSpc>
                <a:spcPct val="138000"/>
              </a:lnSpc>
              <a:spcAft>
                <a:spcPts val="1400"/>
              </a:spcAft>
            </a:pPr>
            <a:r>
              <a:rPr sz="1450">
                <a:solidFill>
                  <a:srgbClr val="C8A264"/>
                </a:solidFill>
                <a:latin typeface="Noto Sans CJK SC"/>
                <a:ea typeface="Noto Sans CJK SC"/>
              </a:rPr>
              <a:t>— </a:t>
            </a:r>
            <a:r>
              <a:rPr sz="1450" b="1">
                <a:solidFill>
                  <a:srgbClr val="EEE8DC"/>
                </a:solidFill>
                <a:latin typeface="Noto Sans CJK SC"/>
                <a:ea typeface="Noto Sans CJK SC"/>
              </a:rPr>
              <a:t>他不是脸谱化的恶</a:t>
            </a:r>
            <a:r>
              <a:rPr sz="1450">
                <a:solidFill>
                  <a:srgbClr val="C9C2B4"/>
                </a:solidFill>
                <a:latin typeface="Noto Sans CJK SC"/>
                <a:ea typeface="Noto Sans CJK SC"/>
              </a:rPr>
              <a:t>，而是乱世里很常见的一种「精明」。</a:t>
            </a:r>
          </a:p>
          <a:p>
            <a:pPr marL="274320" indent="-274320">
              <a:lnSpc>
                <a:spcPct val="138000"/>
              </a:lnSpc>
              <a:spcAft>
                <a:spcPts val="1400"/>
              </a:spcAft>
            </a:pPr>
            <a:r>
              <a:rPr sz="1450">
                <a:solidFill>
                  <a:srgbClr val="C8A264"/>
                </a:solidFill>
                <a:latin typeface="Noto Sans CJK SC"/>
                <a:ea typeface="Noto Sans CJK SC"/>
              </a:rPr>
              <a:t>— </a:t>
            </a:r>
            <a:r>
              <a:rPr sz="1450" b="1">
                <a:solidFill>
                  <a:srgbClr val="EEE8DC"/>
                </a:solidFill>
                <a:latin typeface="Noto Sans CJK SC"/>
                <a:ea typeface="Noto Sans CJK SC"/>
              </a:rPr>
              <a:t>影片用他提问</a:t>
            </a:r>
            <a:r>
              <a:rPr sz="1450">
                <a:solidFill>
                  <a:srgbClr val="C9C2B4"/>
                </a:solidFill>
                <a:latin typeface="Noto Sans CJK SC"/>
                <a:ea typeface="Noto Sans CJK SC"/>
              </a:rPr>
              <a:t>：活下去，和做对的事，是从哪一步开始分开的？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7086600" y="2011680"/>
            <a:ext cx="4160520" cy="2331720"/>
          </a:xfrm>
          <a:prstGeom prst="rect">
            <a:avLst/>
          </a:prstGeom>
          <a:solidFill>
            <a:srgbClr val="1817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6400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50" b="0" i="0" spc="60">
                <a:solidFill>
                  <a:srgbClr val="9C958A"/>
                </a:solidFill>
                <a:latin typeface="Noto Sans CJK SC"/>
                <a:ea typeface="Noto Sans CJK SC"/>
              </a:rPr>
              <a:t>03 · 一次显影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21240" y="6382512"/>
            <a:ext cx="149047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850" b="0" i="0" spc="40">
                <a:solidFill>
                  <a:srgbClr val="9C958A"/>
                </a:solidFill>
                <a:latin typeface="Noto Sans CJK SC"/>
                <a:ea typeface="Noto Sans CJK SC"/>
              </a:rPr>
              <a:t>18 / 27</a:t>
            </a:r>
          </a:p>
        </p:txBody>
      </p:sp>
      <p:pic>
        <p:nvPicPr>
          <p:cNvPr id="11" name="Picture 10" descr="image13.jpg"/>
          <p:cNvPicPr>
            <a:picLocks noChangeAspect="1"/>
          </p:cNvPicPr>
          <p:nvPr/>
        </p:nvPicPr>
        <p:blipFill>
          <a:blip r:embed="rId3"/>
          <a:srcRect t="5000" b="19000" l="7700" r="7700"/>
          <a:stretch>
            <a:fillRect/>
          </a:stretch>
        </p:blipFill>
        <p:spPr>
          <a:xfrm>
            <a:off x="7086600" y="2011680"/>
            <a:ext cx="4160520" cy="233172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7086600" y="2011680"/>
            <a:ext cx="4160520" cy="2331720"/>
          </a:xfrm>
          <a:prstGeom prst="rect">
            <a:avLst/>
          </a:prstGeom>
          <a:solidFill>
            <a:srgbClr val="0C0B09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60920" y="2212848"/>
            <a:ext cx="3566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b="0">
                <a:solidFill>
                  <a:srgbClr val="EEE8DC"/>
                </a:solidFill>
                <a:latin typeface="Noto Serif CJK SC"/>
                <a:ea typeface="Noto Serif CJK SC"/>
              </a:rPr>
              <a:t>如果是我，</a:t>
            </a:r>
          </a:p>
          <a:p>
            <a:pPr algn="l">
              <a:lnSpc>
                <a:spcPct val="140000"/>
              </a:lnSpc>
            </a:pPr>
            <a:r>
              <a:rPr sz="2400" b="0">
                <a:solidFill>
                  <a:srgbClr val="EEE8DC"/>
                </a:solidFill>
                <a:latin typeface="Noto Serif CJK SC"/>
                <a:ea typeface="Noto Serif CJK SC"/>
              </a:rPr>
              <a:t>会怎么选？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3749039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E0D2BC"/>
                </a:solidFill>
                <a:latin typeface="Noto Sans CJK SC"/>
                <a:ea typeface="Noto Sans CJK SC"/>
              </a:rPr>
              <a:t>把这个问题带回自己的处境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32520" y="4041648"/>
            <a:ext cx="2331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750" b="0">
                <a:solidFill>
                  <a:srgbClr val="E0D2BC"/>
                </a:solidFill>
                <a:latin typeface="Noto Sans CJK SC"/>
                <a:ea typeface="Noto Sans CJK SC"/>
              </a:rPr>
              <a:t>王广海（王传君 饰）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B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03504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0" i="0" spc="150">
                <a:solidFill>
                  <a:srgbClr val="C8A264"/>
                </a:solidFill>
                <a:latin typeface="Noto Sans CJK SC"/>
                <a:ea typeface="Noto Sans CJK SC"/>
              </a:rPr>
              <a:t>03 · 一次显影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96112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0" i="0">
                <a:solidFill>
                  <a:srgbClr val="EEE8DC"/>
                </a:solidFill>
                <a:latin typeface="Noto Serif CJK SC"/>
                <a:ea typeface="Noto Serif CJK SC"/>
              </a:rPr>
              <a:t>为什么不拍血腥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645920"/>
            <a:ext cx="777240" cy="22860"/>
          </a:xfrm>
          <a:prstGeom prst="rect">
            <a:avLst/>
          </a:prstGeom>
          <a:solidFill>
            <a:srgbClr val="C8A2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05740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 i="0" spc="80">
                <a:solidFill>
                  <a:srgbClr val="6E5C39"/>
                </a:solidFill>
                <a:latin typeface="Noto Sans CJK SC"/>
                <a:ea typeface="Noto Sans CJK SC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201168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800" b="0" i="0">
                <a:solidFill>
                  <a:srgbClr val="EEE8DC"/>
                </a:solidFill>
                <a:latin typeface="Noto Serif CJK SC"/>
                <a:ea typeface="Noto Serif CJK SC"/>
              </a:rPr>
              <a:t>不展示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2048256"/>
            <a:ext cx="7406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 i="0">
                <a:solidFill>
                  <a:srgbClr val="C9C2B4"/>
                </a:solidFill>
                <a:latin typeface="Noto Sans CJK SC"/>
                <a:ea typeface="Noto Sans CJK SC"/>
              </a:rPr>
              <a:t>暴行多发生在画外，镜头停在人的脸上。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578608"/>
            <a:ext cx="10561320" cy="10972"/>
          </a:xfrm>
          <a:prstGeom prst="rect">
            <a:avLst/>
          </a:prstGeom>
          <a:solidFill>
            <a:srgbClr val="322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2608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 i="0" spc="80">
                <a:solidFill>
                  <a:srgbClr val="6E5C39"/>
                </a:solidFill>
                <a:latin typeface="Noto Sans CJK SC"/>
                <a:ea typeface="Noto Sans CJK SC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88036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800" b="0" i="0">
                <a:solidFill>
                  <a:srgbClr val="EEE8DC"/>
                </a:solidFill>
                <a:latin typeface="Noto Serif CJK SC"/>
                <a:ea typeface="Noto Serif CJK SC"/>
              </a:rPr>
              <a:t>不煽动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2916936"/>
            <a:ext cx="7406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 i="0">
                <a:solidFill>
                  <a:srgbClr val="C9C2B4"/>
                </a:solidFill>
                <a:latin typeface="Noto Sans CJK SC"/>
                <a:ea typeface="Noto Sans CJK SC"/>
              </a:rPr>
              <a:t>情绪来自处境，而不是配乐与特写。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447288"/>
            <a:ext cx="10561320" cy="10972"/>
          </a:xfrm>
          <a:prstGeom prst="rect">
            <a:avLst/>
          </a:prstGeom>
          <a:solidFill>
            <a:srgbClr val="322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79476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 i="0" spc="80">
                <a:solidFill>
                  <a:srgbClr val="6E5C39"/>
                </a:solidFill>
                <a:latin typeface="Noto Sans CJK SC"/>
                <a:ea typeface="Noto Sans CJK SC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374904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800" b="0" i="0">
                <a:solidFill>
                  <a:srgbClr val="EEE8DC"/>
                </a:solidFill>
                <a:latin typeface="Noto Serif CJK SC"/>
                <a:ea typeface="Noto Serif CJK SC"/>
              </a:rPr>
              <a:t>不消费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3785616"/>
            <a:ext cx="7406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 i="0">
                <a:solidFill>
                  <a:srgbClr val="C9C2B4"/>
                </a:solidFill>
                <a:latin typeface="Noto Sans CJK SC"/>
                <a:ea typeface="Noto Sans CJK SC"/>
              </a:rPr>
              <a:t>「不必血腥当噱头」——这是导演的创作原则。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315968"/>
            <a:ext cx="10561320" cy="10972"/>
          </a:xfrm>
          <a:prstGeom prst="rect">
            <a:avLst/>
          </a:prstGeom>
          <a:solidFill>
            <a:srgbClr val="322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89204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  <a:spcAft>
                <a:spcPts val="0"/>
              </a:spcAft>
            </a:pPr>
            <a:r>
              <a:rPr sz="1250" b="0" i="0">
                <a:solidFill>
                  <a:srgbClr val="9C958A"/>
                </a:solidFill>
                <a:latin typeface="Noto Sans CJK SC"/>
                <a:ea typeface="Noto Sans CJK SC"/>
              </a:rPr>
              <a:t>代价是：冲击力被主动削弱。有人觉得它「不够狠」，也有人觉得这正是分寸。</a:t>
            </a:r>
          </a:p>
          <a:p>
            <a:pPr algn="l">
              <a:lnSpc>
                <a:spcPct val="170000"/>
              </a:lnSpc>
              <a:spcAft>
                <a:spcPts val="0"/>
              </a:spcAft>
            </a:pPr>
            <a:r>
              <a:rPr sz="1250" b="0" i="0">
                <a:solidFill>
                  <a:srgbClr val="9C958A"/>
                </a:solidFill>
                <a:latin typeface="Noto Sans CJK SC"/>
                <a:ea typeface="Noto Sans CJK SC"/>
              </a:rPr>
              <a:t>这个问题，我们留到最后一页。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6382512"/>
            <a:ext cx="6400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50" b="0" i="0" spc="60">
                <a:solidFill>
                  <a:srgbClr val="9C958A"/>
                </a:solidFill>
                <a:latin typeface="Noto Sans CJK SC"/>
                <a:ea typeface="Noto Sans CJK SC"/>
              </a:rPr>
              <a:t>03 · 一次显影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21240" y="6382512"/>
            <a:ext cx="149047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850" b="0" i="0" spc="40">
                <a:solidFill>
                  <a:srgbClr val="9C958A"/>
                </a:solidFill>
                <a:latin typeface="Noto Sans CJK SC"/>
                <a:ea typeface="Noto Sans CJK SC"/>
              </a:rPr>
              <a:t>19 / 27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B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03504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0" i="0" spc="150">
                <a:solidFill>
                  <a:srgbClr val="C8A264"/>
                </a:solidFill>
                <a:latin typeface="Noto Sans CJK SC"/>
                <a:ea typeface="Noto Sans CJK SC"/>
              </a:rPr>
              <a:t>04 · 一场对话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96112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0" i="0">
                <a:solidFill>
                  <a:srgbClr val="EEE8DC"/>
                </a:solidFill>
                <a:latin typeface="Noto Serif CJK SC"/>
                <a:ea typeface="Noto Serif CJK SC"/>
              </a:rPr>
              <a:t>它有多「火」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645920"/>
            <a:ext cx="777240" cy="22860"/>
          </a:xfrm>
          <a:prstGeom prst="rect">
            <a:avLst/>
          </a:prstGeom>
          <a:solidFill>
            <a:srgbClr val="C8A2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103120"/>
            <a:ext cx="26060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0" i="0">
                <a:solidFill>
                  <a:srgbClr val="C8A264"/>
                </a:solidFill>
                <a:latin typeface="Noto Serif CJK SC"/>
                <a:ea typeface="Noto Serif CJK SC"/>
              </a:rPr>
              <a:t>30 亿 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999232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 i="0">
                <a:solidFill>
                  <a:srgbClr val="EEE8DC"/>
                </a:solidFill>
                <a:latin typeface="Noto Sans CJK SC"/>
                <a:ea typeface="Noto Sans CJK SC"/>
              </a:rPr>
              <a:t>累计票房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310128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00" b="0" i="0">
                <a:solidFill>
                  <a:srgbClr val="9C958A"/>
                </a:solidFill>
                <a:latin typeface="Noto Sans CJK SC"/>
                <a:ea typeface="Noto Sans CJK SC"/>
              </a:rPr>
              <a:t>截至 2025 年 9 月 23 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20440" y="2103120"/>
            <a:ext cx="26060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0" i="0">
                <a:solidFill>
                  <a:srgbClr val="C8A264"/>
                </a:solidFill>
                <a:latin typeface="Noto Serif CJK SC"/>
                <a:ea typeface="Noto Serif CJK SC"/>
              </a:rPr>
              <a:t>8.6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0440" y="2999232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 i="0">
                <a:solidFill>
                  <a:srgbClr val="EEE8DC"/>
                </a:solidFill>
                <a:latin typeface="Noto Sans CJK SC"/>
                <a:ea typeface="Noto Sans CJK SC"/>
              </a:rPr>
              <a:t>豆瓣评分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3310128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00" b="0" i="0">
                <a:solidFill>
                  <a:srgbClr val="9C958A"/>
                </a:solidFill>
                <a:latin typeface="Noto Sans CJK SC"/>
                <a:ea typeface="Noto Sans CJK SC"/>
              </a:rPr>
              <a:t>2025 年暑期档口碑前列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2103120"/>
            <a:ext cx="26060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0" i="0">
                <a:solidFill>
                  <a:srgbClr val="C8A264"/>
                </a:solidFill>
                <a:latin typeface="Noto Serif CJK SC"/>
                <a:ea typeface="Noto Serif CJK SC"/>
              </a:rPr>
              <a:t>2,800 万 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2999232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 i="0">
                <a:solidFill>
                  <a:srgbClr val="EEE8DC"/>
                </a:solidFill>
                <a:latin typeface="Noto Sans CJK SC"/>
                <a:ea typeface="Noto Sans CJK SC"/>
              </a:rPr>
              <a:t>观影人次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3310128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00" b="0" i="0">
                <a:solidFill>
                  <a:srgbClr val="9C958A"/>
                </a:solidFill>
                <a:latin typeface="Noto Sans CJK SC"/>
                <a:ea typeface="Noto Sans CJK SC"/>
              </a:rPr>
              <a:t>票房破 10 亿时的统计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06840" y="2103120"/>
            <a:ext cx="26060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0" i="0">
                <a:solidFill>
                  <a:srgbClr val="C8A264"/>
                </a:solidFill>
                <a:latin typeface="Noto Serif CJK SC"/>
                <a:ea typeface="Noto Serif CJK SC"/>
              </a:rPr>
              <a:t>3 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06840" y="2999232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 i="0">
                <a:solidFill>
                  <a:srgbClr val="EEE8DC"/>
                </a:solidFill>
                <a:latin typeface="Noto Sans CJK SC"/>
                <a:ea typeface="Noto Sans CJK SC"/>
              </a:rPr>
              <a:t>金鹿奖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06840" y="3310128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00" b="0" i="0">
                <a:solidFill>
                  <a:srgbClr val="9C958A"/>
                </a:solidFill>
                <a:latin typeface="Noto Sans CJK SC"/>
                <a:ea typeface="Noto Sans CJK SC"/>
              </a:rPr>
              <a:t>最佳影片 / 导演 / 编剧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251960"/>
            <a:ext cx="10561320" cy="10972"/>
          </a:xfrm>
          <a:prstGeom prst="rect">
            <a:avLst/>
          </a:prstGeom>
          <a:solidFill>
            <a:srgbClr val="322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480560"/>
            <a:ext cx="10515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  <a:spcAft>
                <a:spcPts val="0"/>
              </a:spcAft>
            </a:pPr>
            <a:r>
              <a:rPr sz="1350" b="0" i="0">
                <a:solidFill>
                  <a:srgbClr val="C9C2B4"/>
                </a:solidFill>
                <a:latin typeface="Noto Sans CJK SC"/>
                <a:ea typeface="Noto Sans CJK SC"/>
              </a:rPr>
              <a:t>上映 5 天破 6 亿，14 天约 19 亿。它把一段沉重历史，带进了暑期档最热闹的档期。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5138928"/>
            <a:ext cx="10561320" cy="10972"/>
          </a:xfrm>
          <a:prstGeom prst="rect">
            <a:avLst/>
          </a:prstGeom>
          <a:solidFill>
            <a:srgbClr val="322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285232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50" b="0" i="0" spc="100">
                <a:solidFill>
                  <a:srgbClr val="C8A264"/>
                </a:solidFill>
                <a:latin typeface="Noto Sans CJK SC"/>
                <a:ea typeface="Noto Sans CJK SC"/>
              </a:rPr>
              <a:t>第 5 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522976"/>
            <a:ext cx="20116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800" b="0" i="0">
                <a:solidFill>
                  <a:srgbClr val="EEE8DC"/>
                </a:solidFill>
                <a:latin typeface="Noto Serif CJK SC"/>
                <a:ea typeface="Noto Serif CJK SC"/>
              </a:rPr>
              <a:t>6 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440" y="5285232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50" b="0" i="0" spc="100">
                <a:solidFill>
                  <a:srgbClr val="C8A264"/>
                </a:solidFill>
                <a:latin typeface="Noto Sans CJK SC"/>
                <a:ea typeface="Noto Sans CJK SC"/>
              </a:rPr>
              <a:t>第 14 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5522976"/>
            <a:ext cx="20116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800" b="0" i="0">
                <a:solidFill>
                  <a:srgbClr val="EEE8DC"/>
                </a:solidFill>
                <a:latin typeface="Noto Serif CJK SC"/>
                <a:ea typeface="Noto Serif CJK SC"/>
              </a:rPr>
              <a:t>19 亿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5285232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50" b="0" i="0" spc="100">
                <a:solidFill>
                  <a:srgbClr val="C8A264"/>
                </a:solidFill>
                <a:latin typeface="Noto Sans CJK SC"/>
                <a:ea typeface="Noto Sans CJK SC"/>
              </a:rPr>
              <a:t>2025.09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5522976"/>
            <a:ext cx="20116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800" b="0" i="0">
                <a:solidFill>
                  <a:srgbClr val="EEE8DC"/>
                </a:solidFill>
                <a:latin typeface="Noto Serif CJK SC"/>
                <a:ea typeface="Noto Serif CJK SC"/>
              </a:rPr>
              <a:t>30 亿 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6382512"/>
            <a:ext cx="6400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50" b="0" i="0" spc="60">
                <a:solidFill>
                  <a:srgbClr val="9C958A"/>
                </a:solidFill>
                <a:latin typeface="Noto Sans CJK SC"/>
                <a:ea typeface="Noto Sans CJK SC"/>
              </a:rPr>
              <a:t>04 · 一场对话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21240" y="6382512"/>
            <a:ext cx="149047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850" b="0" i="0" spc="40">
                <a:solidFill>
                  <a:srgbClr val="9C958A"/>
                </a:solidFill>
                <a:latin typeface="Noto Sans CJK SC"/>
                <a:ea typeface="Noto Sans CJK SC"/>
              </a:rPr>
              <a:t>20 / 27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B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03504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0" i="0" spc="150">
                <a:solidFill>
                  <a:srgbClr val="C8A264"/>
                </a:solidFill>
                <a:latin typeface="Noto Sans CJK SC"/>
                <a:ea typeface="Noto Sans CJK SC"/>
              </a:rPr>
              <a:t>04 · 一场对话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96112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0" i="0">
                <a:solidFill>
                  <a:srgbClr val="EEE8DC"/>
                </a:solidFill>
                <a:latin typeface="Noto Serif CJK SC"/>
                <a:ea typeface="Noto Serif CJK SC"/>
              </a:rPr>
              <a:t>最大的彩蛋，在影院外面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645920"/>
            <a:ext cx="777240" cy="22860"/>
          </a:xfrm>
          <a:prstGeom prst="rect">
            <a:avLst/>
          </a:prstGeom>
          <a:solidFill>
            <a:srgbClr val="C8A2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965960"/>
            <a:ext cx="5166360" cy="2606040"/>
          </a:xfrm>
          <a:prstGeom prst="rect">
            <a:avLst/>
          </a:prstGeom>
          <a:solidFill>
            <a:srgbClr val="1817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103120"/>
            <a:ext cx="45720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400" b="0" i="0">
                <a:solidFill>
                  <a:srgbClr val="6E5C39"/>
                </a:solidFill>
                <a:latin typeface="Noto Serif CJK SC"/>
                <a:ea typeface="Noto Serif CJK SC"/>
              </a:rPr>
              <a:t>1937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3520440"/>
            <a:ext cx="44805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  <a:spcAft>
                <a:spcPts val="0"/>
              </a:spcAft>
            </a:pPr>
            <a:r>
              <a:rPr sz="1400" b="0" i="0">
                <a:solidFill>
                  <a:srgbClr val="9C958A"/>
                </a:solidFill>
                <a:latin typeface="Noto Sans CJK SC"/>
                <a:ea typeface="Noto Sans CJK SC"/>
              </a:rPr>
              <a:t>走出影院之前，</a:t>
            </a:r>
          </a:p>
          <a:p>
            <a:pPr algn="l">
              <a:lnSpc>
                <a:spcPct val="170000"/>
              </a:lnSpc>
              <a:spcAft>
                <a:spcPts val="0"/>
              </a:spcAft>
            </a:pPr>
            <a:r>
              <a:rPr sz="1400" b="0" i="0">
                <a:solidFill>
                  <a:srgbClr val="9C958A"/>
                </a:solidFill>
                <a:latin typeface="Noto Sans CJK SC"/>
                <a:ea typeface="Noto Sans CJK SC"/>
              </a:rPr>
              <a:t>我们刚看完一座废墟。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1965960"/>
            <a:ext cx="5166360" cy="2606040"/>
          </a:xfrm>
          <a:prstGeom prst="rect">
            <a:avLst/>
          </a:prstGeom>
          <a:solidFill>
            <a:srgbClr val="241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2103120"/>
            <a:ext cx="45720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400" b="0" i="0">
                <a:solidFill>
                  <a:srgbClr val="C8A264"/>
                </a:solidFill>
                <a:latin typeface="Noto Serif CJK SC"/>
                <a:ea typeface="Noto Serif CJK SC"/>
              </a:rPr>
              <a:t>今天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3952" y="3520440"/>
            <a:ext cx="44805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  <a:spcAft>
                <a:spcPts val="0"/>
              </a:spcAft>
            </a:pPr>
            <a:r>
              <a:rPr sz="1400" b="0" i="0">
                <a:solidFill>
                  <a:srgbClr val="C9C2B4"/>
                </a:solidFill>
                <a:latin typeface="Noto Sans CJK SC"/>
                <a:ea typeface="Noto Sans CJK SC"/>
              </a:rPr>
              <a:t>走出影院之后，</a:t>
            </a:r>
          </a:p>
          <a:p>
            <a:pPr algn="l">
              <a:lnSpc>
                <a:spcPct val="170000"/>
              </a:lnSpc>
              <a:spcAft>
                <a:spcPts val="0"/>
              </a:spcAft>
            </a:pPr>
            <a:r>
              <a:rPr sz="1400" b="0" i="0">
                <a:solidFill>
                  <a:srgbClr val="C9C2B4"/>
                </a:solidFill>
                <a:latin typeface="Noto Sans CJK SC"/>
                <a:ea typeface="Noto Sans CJK SC"/>
              </a:rPr>
              <a:t>是一座亮着灯的城市。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92040"/>
            <a:ext cx="104241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5000"/>
              </a:lnSpc>
              <a:spcAft>
                <a:spcPts val="0"/>
              </a:spcAft>
            </a:pPr>
            <a:r>
              <a:rPr sz="1500" b="0" i="0">
                <a:solidFill>
                  <a:srgbClr val="EEE8DC"/>
                </a:solidFill>
                <a:latin typeface="Noto Serif CJK SC"/>
                <a:ea typeface="Noto Serif CJK SC"/>
              </a:rPr>
              <a:t>路演时主创留给观众的那句话：走出影院看到的繁华中国，就是这部电影最大的彩蛋。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6382512"/>
            <a:ext cx="6400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50" b="0" i="0" spc="60">
                <a:solidFill>
                  <a:srgbClr val="9C958A"/>
                </a:solidFill>
                <a:latin typeface="Noto Sans CJK SC"/>
                <a:ea typeface="Noto Sans CJK SC"/>
              </a:rPr>
              <a:t>04 · 一场对话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21240" y="6382512"/>
            <a:ext cx="149047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850" b="0" i="0" spc="40">
                <a:solidFill>
                  <a:srgbClr val="9C958A"/>
                </a:solidFill>
                <a:latin typeface="Noto Sans CJK SC"/>
                <a:ea typeface="Noto Sans CJK SC"/>
              </a:rPr>
              <a:t>21 / 27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B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03504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0" i="0" spc="150">
                <a:solidFill>
                  <a:srgbClr val="C8A264"/>
                </a:solidFill>
                <a:latin typeface="Noto Sans CJK SC"/>
                <a:ea typeface="Noto Sans CJK SC"/>
              </a:rPr>
              <a:t>04 · 一场对话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96112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0" i="0">
                <a:solidFill>
                  <a:srgbClr val="EEE8DC"/>
                </a:solidFill>
                <a:latin typeface="Noto Serif CJK SC"/>
                <a:ea typeface="Noto Serif CJK SC"/>
              </a:rPr>
              <a:t>幕后：1:1 复原一座城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645920"/>
            <a:ext cx="777240" cy="22860"/>
          </a:xfrm>
          <a:prstGeom prst="rect">
            <a:avLst/>
          </a:prstGeom>
          <a:solidFill>
            <a:srgbClr val="C8A2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01168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400" b="0" i="0">
                <a:solidFill>
                  <a:srgbClr val="EEE8DC"/>
                </a:solidFill>
                <a:latin typeface="Noto Serif CJK SC"/>
                <a:ea typeface="Noto Serif CJK SC"/>
              </a:rPr>
              <a:t>500 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514600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0" i="0" spc="40">
                <a:solidFill>
                  <a:srgbClr val="9C958A"/>
                </a:solidFill>
                <a:latin typeface="Noto Sans CJK SC"/>
                <a:ea typeface="Noto Sans CJK SC"/>
              </a:rPr>
              <a:t>置景团队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0" y="201168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400" b="0" i="0">
                <a:solidFill>
                  <a:srgbClr val="EEE8DC"/>
                </a:solidFill>
                <a:latin typeface="Noto Serif CJK SC"/>
                <a:ea typeface="Noto Serif CJK SC"/>
              </a:rPr>
              <a:t>3 个月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2514600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0" i="0" spc="40">
                <a:solidFill>
                  <a:srgbClr val="9C958A"/>
                </a:solidFill>
                <a:latin typeface="Noto Sans CJK SC"/>
                <a:ea typeface="Noto Sans CJK SC"/>
              </a:rPr>
              <a:t>搭建周期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06324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400" b="0" i="0">
                <a:solidFill>
                  <a:srgbClr val="EEE8DC"/>
                </a:solidFill>
                <a:latin typeface="Noto Serif CJK SC"/>
                <a:ea typeface="Noto Serif CJK SC"/>
              </a:rPr>
              <a:t>2.5 万 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566160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0" i="0" spc="40">
                <a:solidFill>
                  <a:srgbClr val="9C958A"/>
                </a:solidFill>
                <a:latin typeface="Noto Sans CJK SC"/>
                <a:ea typeface="Noto Sans CJK SC"/>
              </a:rPr>
              <a:t>实景面积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306324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400" b="0" i="0">
                <a:solidFill>
                  <a:srgbClr val="EEE8DC"/>
                </a:solidFill>
                <a:latin typeface="Noto Serif CJK SC"/>
                <a:ea typeface="Noto Serif CJK SC"/>
              </a:rPr>
              <a:t>车墩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3566160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0" i="0" spc="40">
                <a:solidFill>
                  <a:srgbClr val="9C958A"/>
                </a:solidFill>
                <a:latin typeface="Noto Sans CJK SC"/>
                <a:ea typeface="Noto Sans CJK SC"/>
              </a:rPr>
              <a:t>上海影视乐园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160520"/>
            <a:ext cx="5394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  <a:spcAft>
                <a:spcPts val="0"/>
              </a:spcAft>
            </a:pPr>
            <a:r>
              <a:rPr sz="1200" b="0" i="0">
                <a:solidFill>
                  <a:srgbClr val="C9C2B4"/>
                </a:solidFill>
                <a:latin typeface="Noto Sans CJK SC"/>
                <a:ea typeface="Noto Sans CJK SC"/>
              </a:rPr>
              <a:t>团队还查阅了近千万字文献、上万张历史图片，</a:t>
            </a:r>
          </a:p>
          <a:p>
            <a:pPr algn="l">
              <a:lnSpc>
                <a:spcPct val="170000"/>
              </a:lnSpc>
              <a:spcAft>
                <a:spcPts val="0"/>
              </a:spcAft>
            </a:pPr>
            <a:r>
              <a:rPr sz="1200" b="0" i="0">
                <a:solidFill>
                  <a:srgbClr val="C9C2B4"/>
                </a:solidFill>
                <a:latin typeface="Noto Sans CJK SC"/>
                <a:ea typeface="Noto Sans CJK SC"/>
              </a:rPr>
              <a:t>把档案里的照片与图纸，重新变成街道和墙。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34924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50" b="0" i="0">
                <a:solidFill>
                  <a:srgbClr val="9C958A"/>
                </a:solidFill>
                <a:latin typeface="Noto Sans CJK SC"/>
                <a:ea typeface="Noto Sans CJK SC"/>
              </a:rPr>
              <a:t>特辑版权归片方所有，课堂引用仅作分析。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720840" y="1938528"/>
            <a:ext cx="4617720" cy="2615184"/>
          </a:xfrm>
          <a:prstGeom prst="rect">
            <a:avLst/>
          </a:prstGeom>
          <a:solidFill>
            <a:srgbClr val="222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720840" y="1938528"/>
            <a:ext cx="4617720" cy="2615184"/>
          </a:xfrm>
          <a:prstGeom prst="rect">
            <a:avLst/>
          </a:prstGeom>
          <a:noFill/>
          <a:ln w="12700">
            <a:solidFill>
              <a:srgbClr val="322F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49440" y="3977639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 i="0">
                <a:solidFill>
                  <a:srgbClr val="EEE8DC"/>
                </a:solidFill>
                <a:latin typeface="Noto Sans CJK SC"/>
                <a:ea typeface="Noto Sans CJK SC"/>
              </a:rPr>
              <a:t>《南京照相馆》制作特辑</a:t>
            </a:r>
          </a:p>
        </p:txBody>
      </p:sp>
      <p:pic>
        <p:nvPicPr>
          <p:cNvPr id="20" name="Picture 19" descr="qr_featuret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4882896"/>
            <a:ext cx="960120" cy="96012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863840" y="4901184"/>
            <a:ext cx="3566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50" b="0" i="0">
                <a:solidFill>
                  <a:srgbClr val="9C958A"/>
                </a:solidFill>
                <a:latin typeface="Noto Sans CJK SC"/>
                <a:ea typeface="Noto Sans CJK SC"/>
              </a:rPr>
              <a:t>扫码直达 B 站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50" b="0" i="0">
                <a:solidFill>
                  <a:srgbClr val="9C958A"/>
                </a:solidFill>
                <a:latin typeface="Noto Sans CJK SC"/>
                <a:ea typeface="Noto Sans CJK SC"/>
              </a:rPr>
              <a:t>bilibili.com/video/BV1aegizwEjD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50" b="0" i="0">
                <a:solidFill>
                  <a:srgbClr val="9C958A"/>
                </a:solidFill>
                <a:latin typeface="Noto Sans CJK SC"/>
                <a:ea typeface="Noto Sans CJK SC"/>
              </a:rPr>
              <a:t/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50" b="0" i="0">
                <a:solidFill>
                  <a:srgbClr val="9C958A"/>
                </a:solidFill>
                <a:latin typeface="Noto Sans CJK SC"/>
                <a:ea typeface="Noto Sans CJK SC"/>
              </a:rPr>
              <a:t>▶ 替换方法见本页备注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6382512"/>
            <a:ext cx="6400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50" b="0" i="0" spc="60">
                <a:solidFill>
                  <a:srgbClr val="9C958A"/>
                </a:solidFill>
                <a:latin typeface="Noto Sans CJK SC"/>
                <a:ea typeface="Noto Sans CJK SC"/>
              </a:rPr>
              <a:t>04 · 一场对话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21240" y="6382512"/>
            <a:ext cx="149047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850" b="0" i="0" spc="40">
                <a:solidFill>
                  <a:srgbClr val="9C958A"/>
                </a:solidFill>
                <a:latin typeface="Noto Sans CJK SC"/>
                <a:ea typeface="Noto Sans CJK SC"/>
              </a:rPr>
              <a:t>22 / 27</a:t>
            </a:r>
          </a:p>
        </p:txBody>
      </p:sp>
      <p:pic>
        <p:nvPicPr>
          <p:cNvPr id="24" name="featurette.mp4">
            <a:hlinkClick r:id="" action="ppaction://media"/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6720840" y="1938528"/>
            <a:ext cx="4617720" cy="259689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720840" y="4626864"/>
            <a:ext cx="46177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>
                <a:solidFill>
                  <a:srgbClr val="9C958A"/>
                </a:solidFill>
                <a:latin typeface="Noto Sans CJK SC"/>
                <a:ea typeface="Noto Sans CJK SC"/>
              </a:rPr>
              <a:t>影片：制作特辑 ｜ 3 分 47 秒 ｜ 建议现场只放 1 分钟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4"/>
                </p:tgtEl>
              </p:cMediaNode>
            </p:video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B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64592" y="164592"/>
            <a:ext cx="237744" cy="118872"/>
          </a:xfrm>
          <a:prstGeom prst="rect">
            <a:avLst/>
          </a:prstGeom>
          <a:solidFill>
            <a:srgbClr val="C8A26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4944" y="164592"/>
            <a:ext cx="237744" cy="118872"/>
          </a:xfrm>
          <a:prstGeom prst="rect">
            <a:avLst/>
          </a:prstGeom>
          <a:solidFill>
            <a:srgbClr val="C8A26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25295" y="164592"/>
            <a:ext cx="237744" cy="118872"/>
          </a:xfrm>
          <a:prstGeom prst="rect">
            <a:avLst/>
          </a:prstGeom>
          <a:solidFill>
            <a:srgbClr val="C8A26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755647" y="164592"/>
            <a:ext cx="237744" cy="118872"/>
          </a:xfrm>
          <a:prstGeom prst="rect">
            <a:avLst/>
          </a:prstGeom>
          <a:solidFill>
            <a:srgbClr val="C8A26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0" y="164592"/>
            <a:ext cx="237744" cy="118872"/>
          </a:xfrm>
          <a:prstGeom prst="rect">
            <a:avLst/>
          </a:prstGeom>
          <a:solidFill>
            <a:srgbClr val="C8A26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816352" y="164592"/>
            <a:ext cx="237744" cy="118872"/>
          </a:xfrm>
          <a:prstGeom prst="rect">
            <a:avLst/>
          </a:prstGeom>
          <a:solidFill>
            <a:srgbClr val="C8A26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346703" y="164592"/>
            <a:ext cx="237744" cy="118872"/>
          </a:xfrm>
          <a:prstGeom prst="rect">
            <a:avLst/>
          </a:prstGeom>
          <a:solidFill>
            <a:srgbClr val="C8A26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77055" y="164592"/>
            <a:ext cx="237744" cy="118872"/>
          </a:xfrm>
          <a:prstGeom prst="rect">
            <a:avLst/>
          </a:prstGeom>
          <a:solidFill>
            <a:srgbClr val="C8A26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07407" y="164592"/>
            <a:ext cx="237744" cy="118872"/>
          </a:xfrm>
          <a:prstGeom prst="rect">
            <a:avLst/>
          </a:prstGeom>
          <a:solidFill>
            <a:srgbClr val="C8A26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937759" y="164592"/>
            <a:ext cx="237744" cy="118872"/>
          </a:xfrm>
          <a:prstGeom prst="rect">
            <a:avLst/>
          </a:prstGeom>
          <a:solidFill>
            <a:srgbClr val="C8A26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68112" y="164592"/>
            <a:ext cx="237744" cy="118872"/>
          </a:xfrm>
          <a:prstGeom prst="rect">
            <a:avLst/>
          </a:prstGeom>
          <a:solidFill>
            <a:srgbClr val="C8A26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98464" y="164592"/>
            <a:ext cx="237744" cy="118872"/>
          </a:xfrm>
          <a:prstGeom prst="rect">
            <a:avLst/>
          </a:prstGeom>
          <a:solidFill>
            <a:srgbClr val="C8A26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28815" y="164592"/>
            <a:ext cx="237744" cy="118872"/>
          </a:xfrm>
          <a:prstGeom prst="rect">
            <a:avLst/>
          </a:prstGeom>
          <a:solidFill>
            <a:srgbClr val="C8A26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59167" y="164592"/>
            <a:ext cx="237744" cy="118872"/>
          </a:xfrm>
          <a:prstGeom prst="rect">
            <a:avLst/>
          </a:prstGeom>
          <a:solidFill>
            <a:srgbClr val="C8A26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589519" y="164592"/>
            <a:ext cx="237744" cy="118872"/>
          </a:xfrm>
          <a:prstGeom prst="rect">
            <a:avLst/>
          </a:prstGeom>
          <a:solidFill>
            <a:srgbClr val="C8A26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19871" y="164592"/>
            <a:ext cx="237744" cy="118872"/>
          </a:xfrm>
          <a:prstGeom prst="rect">
            <a:avLst/>
          </a:prstGeom>
          <a:solidFill>
            <a:srgbClr val="C8A26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650224" y="164592"/>
            <a:ext cx="237744" cy="118872"/>
          </a:xfrm>
          <a:prstGeom prst="rect">
            <a:avLst/>
          </a:prstGeom>
          <a:solidFill>
            <a:srgbClr val="C8A26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80576" y="164592"/>
            <a:ext cx="237744" cy="118872"/>
          </a:xfrm>
          <a:prstGeom prst="rect">
            <a:avLst/>
          </a:prstGeom>
          <a:solidFill>
            <a:srgbClr val="C8A26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710928" y="164592"/>
            <a:ext cx="237744" cy="118872"/>
          </a:xfrm>
          <a:prstGeom prst="rect">
            <a:avLst/>
          </a:prstGeom>
          <a:solidFill>
            <a:srgbClr val="C8A26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241280" y="164592"/>
            <a:ext cx="237744" cy="118872"/>
          </a:xfrm>
          <a:prstGeom prst="rect">
            <a:avLst/>
          </a:prstGeom>
          <a:solidFill>
            <a:srgbClr val="C8A26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771632" y="164592"/>
            <a:ext cx="237744" cy="118872"/>
          </a:xfrm>
          <a:prstGeom prst="rect">
            <a:avLst/>
          </a:prstGeom>
          <a:solidFill>
            <a:srgbClr val="C8A26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1301984" y="164592"/>
            <a:ext cx="237744" cy="118872"/>
          </a:xfrm>
          <a:prstGeom prst="rect">
            <a:avLst/>
          </a:prstGeom>
          <a:solidFill>
            <a:srgbClr val="C8A26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832336" y="164592"/>
            <a:ext cx="237744" cy="118872"/>
          </a:xfrm>
          <a:prstGeom prst="rect">
            <a:avLst/>
          </a:prstGeom>
          <a:solidFill>
            <a:srgbClr val="C8A26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64592" y="6574536"/>
            <a:ext cx="237744" cy="118872"/>
          </a:xfrm>
          <a:prstGeom prst="rect">
            <a:avLst/>
          </a:prstGeom>
          <a:solidFill>
            <a:srgbClr val="C8A26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94944" y="6574536"/>
            <a:ext cx="237744" cy="118872"/>
          </a:xfrm>
          <a:prstGeom prst="rect">
            <a:avLst/>
          </a:prstGeom>
          <a:solidFill>
            <a:srgbClr val="C8A26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225295" y="6574536"/>
            <a:ext cx="237744" cy="118872"/>
          </a:xfrm>
          <a:prstGeom prst="rect">
            <a:avLst/>
          </a:prstGeom>
          <a:solidFill>
            <a:srgbClr val="C8A26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755647" y="6574536"/>
            <a:ext cx="237744" cy="118872"/>
          </a:xfrm>
          <a:prstGeom prst="rect">
            <a:avLst/>
          </a:prstGeom>
          <a:solidFill>
            <a:srgbClr val="C8A26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286000" y="6574536"/>
            <a:ext cx="237744" cy="118872"/>
          </a:xfrm>
          <a:prstGeom prst="rect">
            <a:avLst/>
          </a:prstGeom>
          <a:solidFill>
            <a:srgbClr val="C8A26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816352" y="6574536"/>
            <a:ext cx="237744" cy="118872"/>
          </a:xfrm>
          <a:prstGeom prst="rect">
            <a:avLst/>
          </a:prstGeom>
          <a:solidFill>
            <a:srgbClr val="C8A26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346703" y="6574536"/>
            <a:ext cx="237744" cy="118872"/>
          </a:xfrm>
          <a:prstGeom prst="rect">
            <a:avLst/>
          </a:prstGeom>
          <a:solidFill>
            <a:srgbClr val="C8A26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877055" y="6574536"/>
            <a:ext cx="237744" cy="118872"/>
          </a:xfrm>
          <a:prstGeom prst="rect">
            <a:avLst/>
          </a:prstGeom>
          <a:solidFill>
            <a:srgbClr val="C8A26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407407" y="6574536"/>
            <a:ext cx="237744" cy="118872"/>
          </a:xfrm>
          <a:prstGeom prst="rect">
            <a:avLst/>
          </a:prstGeom>
          <a:solidFill>
            <a:srgbClr val="C8A26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937759" y="6574536"/>
            <a:ext cx="237744" cy="118872"/>
          </a:xfrm>
          <a:prstGeom prst="rect">
            <a:avLst/>
          </a:prstGeom>
          <a:solidFill>
            <a:srgbClr val="C8A26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468112" y="6574536"/>
            <a:ext cx="237744" cy="118872"/>
          </a:xfrm>
          <a:prstGeom prst="rect">
            <a:avLst/>
          </a:prstGeom>
          <a:solidFill>
            <a:srgbClr val="C8A26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998464" y="6574536"/>
            <a:ext cx="237744" cy="118872"/>
          </a:xfrm>
          <a:prstGeom prst="rect">
            <a:avLst/>
          </a:prstGeom>
          <a:solidFill>
            <a:srgbClr val="C8A26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528815" y="6574536"/>
            <a:ext cx="237744" cy="118872"/>
          </a:xfrm>
          <a:prstGeom prst="rect">
            <a:avLst/>
          </a:prstGeom>
          <a:solidFill>
            <a:srgbClr val="C8A26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059167" y="6574536"/>
            <a:ext cx="237744" cy="118872"/>
          </a:xfrm>
          <a:prstGeom prst="rect">
            <a:avLst/>
          </a:prstGeom>
          <a:solidFill>
            <a:srgbClr val="C8A26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589519" y="6574536"/>
            <a:ext cx="237744" cy="118872"/>
          </a:xfrm>
          <a:prstGeom prst="rect">
            <a:avLst/>
          </a:prstGeom>
          <a:solidFill>
            <a:srgbClr val="C8A26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119871" y="6574536"/>
            <a:ext cx="237744" cy="118872"/>
          </a:xfrm>
          <a:prstGeom prst="rect">
            <a:avLst/>
          </a:prstGeom>
          <a:solidFill>
            <a:srgbClr val="C8A26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650224" y="6574536"/>
            <a:ext cx="237744" cy="118872"/>
          </a:xfrm>
          <a:prstGeom prst="rect">
            <a:avLst/>
          </a:prstGeom>
          <a:solidFill>
            <a:srgbClr val="C8A26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180576" y="6574536"/>
            <a:ext cx="237744" cy="118872"/>
          </a:xfrm>
          <a:prstGeom prst="rect">
            <a:avLst/>
          </a:prstGeom>
          <a:solidFill>
            <a:srgbClr val="C8A26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710928" y="6574536"/>
            <a:ext cx="237744" cy="118872"/>
          </a:xfrm>
          <a:prstGeom prst="rect">
            <a:avLst/>
          </a:prstGeom>
          <a:solidFill>
            <a:srgbClr val="C8A26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0241280" y="6574536"/>
            <a:ext cx="237744" cy="118872"/>
          </a:xfrm>
          <a:prstGeom prst="rect">
            <a:avLst/>
          </a:prstGeom>
          <a:solidFill>
            <a:srgbClr val="C8A26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0771632" y="6574536"/>
            <a:ext cx="237744" cy="118872"/>
          </a:xfrm>
          <a:prstGeom prst="rect">
            <a:avLst/>
          </a:prstGeom>
          <a:solidFill>
            <a:srgbClr val="C8A26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1301984" y="6574536"/>
            <a:ext cx="237744" cy="118872"/>
          </a:xfrm>
          <a:prstGeom prst="rect">
            <a:avLst/>
          </a:prstGeom>
          <a:solidFill>
            <a:srgbClr val="C8A26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1832336" y="6574536"/>
            <a:ext cx="237744" cy="118872"/>
          </a:xfrm>
          <a:prstGeom prst="rect">
            <a:avLst/>
          </a:prstGeom>
          <a:solidFill>
            <a:srgbClr val="C8A26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77240" y="1188720"/>
            <a:ext cx="365760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200" b="0" i="0">
                <a:solidFill>
                  <a:srgbClr val="6E5C39"/>
                </a:solidFill>
                <a:latin typeface="Noto Serif CJK SC"/>
                <a:ea typeface="Noto Serif CJK SC"/>
              </a:rPr>
              <a:t>04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160520" y="1481328"/>
            <a:ext cx="27432" cy="1828800"/>
          </a:xfrm>
          <a:prstGeom prst="rect">
            <a:avLst/>
          </a:prstGeom>
          <a:solidFill>
            <a:srgbClr val="C8A2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26280" y="1417320"/>
            <a:ext cx="6583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0" i="0" spc="200">
                <a:solidFill>
                  <a:srgbClr val="C8A264"/>
                </a:solidFill>
                <a:latin typeface="Noto Sans CJK SC"/>
                <a:ea typeface="Noto Sans CJK SC"/>
              </a:rPr>
              <a:t>PART 04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26280" y="1783080"/>
            <a:ext cx="67665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4200" b="0" i="0">
                <a:solidFill>
                  <a:srgbClr val="EEE8DC"/>
                </a:solidFill>
                <a:latin typeface="Noto Serif CJK SC"/>
                <a:ea typeface="Noto Serif CJK SC"/>
              </a:rPr>
              <a:t>一场对话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26280" y="2651760"/>
            <a:ext cx="6766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 i="0">
                <a:solidFill>
                  <a:srgbClr val="9C958A"/>
                </a:solidFill>
                <a:latin typeface="Noto Sans CJK SC"/>
                <a:ea typeface="Noto Sans CJK SC"/>
              </a:rPr>
              <a:t>把判断交回给你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26280" y="3977639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 i="0" spc="60">
                <a:solidFill>
                  <a:srgbClr val="C8A264"/>
                </a:solidFill>
                <a:latin typeface="Noto Sans CJK SC"/>
                <a:ea typeface="Noto Sans CJK SC"/>
              </a:rPr>
              <a:t>争议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760720" y="3977639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 i="0">
                <a:solidFill>
                  <a:srgbClr val="C9C2B4"/>
                </a:solidFill>
                <a:latin typeface="Noto Sans CJK SC"/>
                <a:ea typeface="Noto Sans CJK SC"/>
              </a:rPr>
              <a:t>克制是分寸，还是削弱了冲击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26280" y="4251959"/>
            <a:ext cx="6309360" cy="10972"/>
          </a:xfrm>
          <a:prstGeom prst="rect">
            <a:avLst/>
          </a:prstGeom>
          <a:solidFill>
            <a:srgbClr val="322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526280" y="4480559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 i="0" spc="60">
                <a:solidFill>
                  <a:srgbClr val="C8A264"/>
                </a:solidFill>
                <a:latin typeface="Noto Sans CJK SC"/>
                <a:ea typeface="Noto Sans CJK SC"/>
              </a:rPr>
              <a:t>证据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760720" y="4480559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 i="0">
                <a:solidFill>
                  <a:srgbClr val="C9C2B4"/>
                </a:solidFill>
                <a:latin typeface="Noto Sans CJK SC"/>
                <a:ea typeface="Noto Sans CJK SC"/>
              </a:rPr>
              <a:t>影像还能不能作为证据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526280" y="4754879"/>
            <a:ext cx="6309360" cy="10972"/>
          </a:xfrm>
          <a:prstGeom prst="rect">
            <a:avLst/>
          </a:prstGeom>
          <a:solidFill>
            <a:srgbClr val="322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526280" y="4983479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 i="0" spc="60">
                <a:solidFill>
                  <a:srgbClr val="C8A264"/>
                </a:solidFill>
                <a:latin typeface="Noto Sans CJK SC"/>
                <a:ea typeface="Noto Sans CJK SC"/>
              </a:rPr>
              <a:t>记忆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760720" y="4983479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 i="0">
                <a:solidFill>
                  <a:srgbClr val="C9C2B4"/>
                </a:solidFill>
                <a:latin typeface="Noto Sans CJK SC"/>
                <a:ea typeface="Noto Sans CJK SC"/>
              </a:rPr>
              <a:t>我们这代人怎么「保存底片」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526280" y="5257799"/>
            <a:ext cx="6309360" cy="10972"/>
          </a:xfrm>
          <a:prstGeom prst="rect">
            <a:avLst/>
          </a:prstGeom>
          <a:solidFill>
            <a:srgbClr val="322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921240" y="6382512"/>
            <a:ext cx="149047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850" b="0" i="0" spc="40">
                <a:solidFill>
                  <a:srgbClr val="9C958A"/>
                </a:solidFill>
                <a:latin typeface="Noto Sans CJK SC"/>
                <a:ea typeface="Noto Sans CJK SC"/>
              </a:rPr>
              <a:t>23 / 27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B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03504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0" i="0" spc="150">
                <a:solidFill>
                  <a:srgbClr val="C8A264"/>
                </a:solidFill>
                <a:latin typeface="Noto Sans CJK SC"/>
                <a:ea typeface="Noto Sans CJK SC"/>
              </a:rPr>
              <a:t>04 · 一场对话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96112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0" i="0">
                <a:solidFill>
                  <a:srgbClr val="EEE8DC"/>
                </a:solidFill>
                <a:latin typeface="Noto Serif CJK SC"/>
                <a:ea typeface="Noto Serif CJK SC"/>
              </a:rPr>
              <a:t>留三个问题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645920"/>
            <a:ext cx="777240" cy="22860"/>
          </a:xfrm>
          <a:prstGeom prst="rect">
            <a:avLst/>
          </a:prstGeom>
          <a:solidFill>
            <a:srgbClr val="C8A2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057400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0" i="0" spc="80">
                <a:solidFill>
                  <a:srgbClr val="6E5C39"/>
                </a:solidFill>
                <a:latin typeface="Noto Sans CJK SC"/>
                <a:ea typeface="Noto Sans CJK SC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1965960"/>
            <a:ext cx="96926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900" b="0" i="0">
                <a:solidFill>
                  <a:srgbClr val="EEE8DC"/>
                </a:solidFill>
                <a:latin typeface="Noto Serif CJK SC"/>
                <a:ea typeface="Noto Serif CJK SC"/>
              </a:rPr>
              <a:t>用一间照相馆讲一场屠杀，是「取巧」，还是更有效？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880360"/>
            <a:ext cx="10561320" cy="10972"/>
          </a:xfrm>
          <a:prstGeom prst="rect">
            <a:avLst/>
          </a:prstGeom>
          <a:solidFill>
            <a:srgbClr val="322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172968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0" i="0" spc="80">
                <a:solidFill>
                  <a:srgbClr val="6E5C39"/>
                </a:solidFill>
                <a:latin typeface="Noto Sans CJK SC"/>
                <a:ea typeface="Noto Sans CJK SC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3081528"/>
            <a:ext cx="96926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900" b="0" i="0">
                <a:solidFill>
                  <a:srgbClr val="EEE8DC"/>
                </a:solidFill>
                <a:latin typeface="Noto Serif CJK SC"/>
                <a:ea typeface="Noto Serif CJK SC"/>
              </a:rPr>
              <a:t>当照片可以被 AI 生成和修改，「影像即证据」还成立吗？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95928"/>
            <a:ext cx="10561320" cy="10972"/>
          </a:xfrm>
          <a:prstGeom prst="rect">
            <a:avLst/>
          </a:prstGeom>
          <a:solidFill>
            <a:srgbClr val="322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288536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0" i="0" spc="80">
                <a:solidFill>
                  <a:srgbClr val="6E5C39"/>
                </a:solidFill>
                <a:latin typeface="Noto Sans CJK SC"/>
                <a:ea typeface="Noto Sans CJK SC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4197096"/>
            <a:ext cx="96926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900" b="0" i="0">
                <a:solidFill>
                  <a:srgbClr val="EEE8DC"/>
                </a:solidFill>
                <a:latin typeface="Noto Serif CJK SC"/>
                <a:ea typeface="Noto Serif CJK SC"/>
              </a:rPr>
              <a:t>我们这代人，用什么方式「保存底片」？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5111496"/>
            <a:ext cx="10561320" cy="10972"/>
          </a:xfrm>
          <a:prstGeom prst="rect">
            <a:avLst/>
          </a:prstGeom>
          <a:solidFill>
            <a:srgbClr val="322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55321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 i="0">
                <a:solidFill>
                  <a:srgbClr val="C8A264"/>
                </a:solidFill>
                <a:latin typeface="Noto Sans CJK SC"/>
                <a:ea typeface="Noto Sans CJK SC"/>
              </a:rPr>
              <a:t>任选一个，30 秒，先讲给旁边的人听。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382512"/>
            <a:ext cx="6400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50" b="0" i="0" spc="60">
                <a:solidFill>
                  <a:srgbClr val="9C958A"/>
                </a:solidFill>
                <a:latin typeface="Noto Sans CJK SC"/>
                <a:ea typeface="Noto Sans CJK SC"/>
              </a:rPr>
              <a:t>04 · 一场对话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382512"/>
            <a:ext cx="149047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850" b="0" i="0" spc="40">
                <a:solidFill>
                  <a:srgbClr val="9C958A"/>
                </a:solidFill>
                <a:latin typeface="Noto Sans CJK SC"/>
                <a:ea typeface="Noto Sans CJK SC"/>
              </a:rPr>
              <a:t>24 / 27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B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69480" y="2834640"/>
            <a:ext cx="475488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0" b="0" i="0">
                <a:solidFill>
                  <a:srgbClr val="6E5C39"/>
                </a:solidFill>
                <a:latin typeface="Noto Serif CJK SC"/>
                <a:ea typeface="Noto Serif CJK SC"/>
              </a:rPr>
              <a:t>显影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920240"/>
            <a:ext cx="7498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0" i="0" spc="200">
                <a:solidFill>
                  <a:srgbClr val="C8A264"/>
                </a:solidFill>
                <a:latin typeface="Noto Sans CJK SC"/>
                <a:ea typeface="Noto Sans CJK SC"/>
              </a:rPr>
              <a:t>结语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331720"/>
            <a:ext cx="85953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4200" b="0" i="0">
                <a:solidFill>
                  <a:srgbClr val="EEE8DC"/>
                </a:solidFill>
                <a:latin typeface="Noto Serif CJK SC"/>
                <a:ea typeface="Noto Serif CJK SC"/>
              </a:rPr>
              <a:t>记忆不会自动显影。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246120"/>
            <a:ext cx="69494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90000"/>
              </a:lnSpc>
              <a:spcAft>
                <a:spcPts val="0"/>
              </a:spcAft>
            </a:pPr>
            <a:r>
              <a:rPr sz="1600" b="0" i="0">
                <a:solidFill>
                  <a:srgbClr val="C9C2B4"/>
                </a:solidFill>
                <a:latin typeface="Noto Sans CJK SC"/>
                <a:ea typeface="Noto Sans CJK SC"/>
              </a:rPr>
              <a:t>它需要有人按下快门，有人守着一盏红灯，</a:t>
            </a:r>
          </a:p>
          <a:p>
            <a:pPr algn="l">
              <a:lnSpc>
                <a:spcPct val="190000"/>
              </a:lnSpc>
              <a:spcAft>
                <a:spcPts val="0"/>
              </a:spcAft>
            </a:pPr>
            <a:r>
              <a:rPr sz="1600" b="0" i="0">
                <a:solidFill>
                  <a:srgbClr val="C9C2B4"/>
                </a:solidFill>
                <a:latin typeface="Noto Sans CJK SC"/>
                <a:ea typeface="Noto Sans CJK SC"/>
              </a:rPr>
              <a:t>有人把底片带出城，也有人愿意坐下来看。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892040"/>
            <a:ext cx="914400" cy="22860"/>
          </a:xfrm>
          <a:prstGeom prst="rect">
            <a:avLst/>
          </a:prstGeom>
          <a:solidFill>
            <a:srgbClr val="C8A2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5120640"/>
            <a:ext cx="6949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 i="0">
                <a:solidFill>
                  <a:srgbClr val="9C958A"/>
                </a:solidFill>
                <a:latin typeface="Noto Sans CJK SC"/>
                <a:ea typeface="Noto Sans CJK SC"/>
              </a:rPr>
              <a:t>这也是《南京照相馆》提问的方式。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21240" y="6382512"/>
            <a:ext cx="149047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850" b="0" i="0" spc="40">
                <a:solidFill>
                  <a:srgbClr val="9C958A"/>
                </a:solidFill>
                <a:latin typeface="Noto Sans CJK SC"/>
                <a:ea typeface="Noto Sans CJK SC"/>
              </a:rPr>
              <a:t>25 / 27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B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03504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0" i="0" spc="150">
                <a:solidFill>
                  <a:srgbClr val="C8A264"/>
                </a:solidFill>
                <a:latin typeface="Noto Sans CJK SC"/>
                <a:ea typeface="Noto Sans CJK SC"/>
              </a:rPr>
              <a:t>附录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96112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0" i="0">
                <a:solidFill>
                  <a:srgbClr val="EEE8DC"/>
                </a:solidFill>
                <a:latin typeface="Noto Serif CJK SC"/>
                <a:ea typeface="Noto Serif CJK SC"/>
              </a:rPr>
              <a:t>资料来源与素材说明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645920"/>
            <a:ext cx="777240" cy="22860"/>
          </a:xfrm>
          <a:prstGeom prst="rect">
            <a:avLst/>
          </a:prstGeom>
          <a:solidFill>
            <a:srgbClr val="C8A2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2024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 i="0" spc="100">
                <a:solidFill>
                  <a:srgbClr val="C8A264"/>
                </a:solidFill>
                <a:latin typeface="Noto Sans CJK SC"/>
                <a:ea typeface="Noto Sans CJK SC"/>
              </a:rPr>
              <a:t>影片信息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40280"/>
            <a:ext cx="315468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5000"/>
              </a:lnSpc>
              <a:spcAft>
                <a:spcPts val="0"/>
              </a:spcAft>
            </a:pPr>
            <a:r>
              <a:rPr sz="900" b="0" i="0">
                <a:solidFill>
                  <a:srgbClr val="C9C2B4"/>
                </a:solidFill>
                <a:latin typeface="Noto Sans CJK SC"/>
                <a:ea typeface="Noto Sans CJK SC"/>
              </a:rPr>
              <a:t>猫眼电影 · 影片资料页</a:t>
            </a:r>
          </a:p>
          <a:p>
            <a:pPr algn="l">
              <a:lnSpc>
                <a:spcPct val="165000"/>
              </a:lnSpc>
              <a:spcAft>
                <a:spcPts val="0"/>
              </a:spcAft>
            </a:pPr>
            <a:r>
              <a:rPr sz="900" b="0" i="0">
                <a:solidFill>
                  <a:srgbClr val="C9C2B4"/>
                </a:solidFill>
                <a:latin typeface="Noto Sans CJK SC"/>
                <a:ea typeface="Noto Sans CJK SC"/>
              </a:rPr>
              <a:t>豆瓣电影 · 条目与演职人员</a:t>
            </a:r>
          </a:p>
          <a:p>
            <a:pPr algn="l">
              <a:lnSpc>
                <a:spcPct val="165000"/>
              </a:lnSpc>
              <a:spcAft>
                <a:spcPts val="0"/>
              </a:spcAft>
            </a:pPr>
            <a:r>
              <a:rPr sz="900" b="0" i="0">
                <a:solidFill>
                  <a:srgbClr val="C9C2B4"/>
                </a:solidFill>
                <a:latin typeface="Noto Sans CJK SC"/>
                <a:ea typeface="Noto Sans CJK SC"/>
              </a:rPr>
              <a:t>1905 电影网 · 影片资料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92024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 i="0" spc="100">
                <a:solidFill>
                  <a:srgbClr val="C8A264"/>
                </a:solidFill>
                <a:latin typeface="Noto Sans CJK SC"/>
                <a:ea typeface="Noto Sans CJK SC"/>
              </a:rPr>
              <a:t>史实资料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2240280"/>
            <a:ext cx="315468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5000"/>
              </a:lnSpc>
              <a:spcAft>
                <a:spcPts val="0"/>
              </a:spcAft>
            </a:pPr>
            <a:r>
              <a:rPr sz="900" b="0" i="0">
                <a:solidFill>
                  <a:srgbClr val="C9C2B4"/>
                </a:solidFill>
                <a:latin typeface="Noto Sans CJK SC"/>
                <a:ea typeface="Noto Sans CJK SC"/>
              </a:rPr>
              <a:t>侵华日军南京大屠杀遇难同胞纪念馆</a:t>
            </a:r>
          </a:p>
          <a:p>
            <a:pPr algn="l">
              <a:lnSpc>
                <a:spcPct val="165000"/>
              </a:lnSpc>
              <a:spcAft>
                <a:spcPts val="0"/>
              </a:spcAft>
            </a:pPr>
            <a:r>
              <a:rPr sz="900" b="0" i="0">
                <a:solidFill>
                  <a:srgbClr val="C9C2B4"/>
                </a:solidFill>
                <a:latin typeface="Noto Sans CJK SC"/>
                <a:ea typeface="Noto Sans CJK SC"/>
              </a:rPr>
              <a:t>中国第二历史档案馆</a:t>
            </a:r>
          </a:p>
          <a:p>
            <a:pPr algn="l">
              <a:lnSpc>
                <a:spcPct val="165000"/>
              </a:lnSpc>
              <a:spcAft>
                <a:spcPts val="0"/>
              </a:spcAft>
            </a:pPr>
            <a:r>
              <a:rPr sz="900" b="0" i="0">
                <a:solidFill>
                  <a:srgbClr val="C9C2B4"/>
                </a:solidFill>
                <a:latin typeface="Noto Sans CJK SC"/>
                <a:ea typeface="Noto Sans CJK SC"/>
              </a:rPr>
              <a:t>人民法院报 · 《一本相册成为「京字第一号证据」》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192024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 i="0" spc="100">
                <a:solidFill>
                  <a:srgbClr val="C8A264"/>
                </a:solidFill>
                <a:latin typeface="Noto Sans CJK SC"/>
                <a:ea typeface="Noto Sans CJK SC"/>
              </a:rPr>
              <a:t>报道与访谈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8120" y="2240280"/>
            <a:ext cx="315468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5000"/>
              </a:lnSpc>
              <a:spcAft>
                <a:spcPts val="0"/>
              </a:spcAft>
            </a:pPr>
            <a:r>
              <a:rPr sz="900" b="0" i="0">
                <a:solidFill>
                  <a:srgbClr val="C9C2B4"/>
                </a:solidFill>
                <a:latin typeface="Noto Sans CJK SC"/>
                <a:ea typeface="Noto Sans CJK SC"/>
              </a:rPr>
              <a:t>人民日报海外版 · 为历史「保存底片」</a:t>
            </a:r>
          </a:p>
          <a:p>
            <a:pPr algn="l">
              <a:lnSpc>
                <a:spcPct val="165000"/>
              </a:lnSpc>
              <a:spcAft>
                <a:spcPts val="0"/>
              </a:spcAft>
            </a:pPr>
            <a:r>
              <a:rPr sz="900" b="0" i="0">
                <a:solidFill>
                  <a:srgbClr val="C9C2B4"/>
                </a:solidFill>
                <a:latin typeface="Noto Sans CJK SC"/>
                <a:ea typeface="Noto Sans CJK SC"/>
              </a:rPr>
              <a:t>新华社 · 走出影院看到的繁华中国</a:t>
            </a:r>
          </a:p>
          <a:p>
            <a:pPr algn="l">
              <a:lnSpc>
                <a:spcPct val="165000"/>
              </a:lnSpc>
              <a:spcAft>
                <a:spcPts val="0"/>
              </a:spcAft>
            </a:pPr>
            <a:r>
              <a:rPr sz="900" b="0" i="0">
                <a:solidFill>
                  <a:srgbClr val="C9C2B4"/>
                </a:solidFill>
                <a:latin typeface="Noto Sans CJK SC"/>
                <a:ea typeface="Noto Sans CJK SC"/>
              </a:rPr>
              <a:t>央视网 · 主创谈创作</a:t>
            </a:r>
          </a:p>
          <a:p>
            <a:pPr algn="l">
              <a:lnSpc>
                <a:spcPct val="165000"/>
              </a:lnSpc>
              <a:spcAft>
                <a:spcPts val="0"/>
              </a:spcAft>
            </a:pPr>
            <a:r>
              <a:rPr sz="900" b="0" i="0">
                <a:solidFill>
                  <a:srgbClr val="C9C2B4"/>
                </a:solidFill>
                <a:latin typeface="Noto Sans CJK SC"/>
                <a:ea typeface="Noto Sans CJK SC"/>
              </a:rPr>
              <a:t>环球时报 · 申奥专访</a:t>
            </a:r>
          </a:p>
          <a:p>
            <a:pPr algn="l">
              <a:lnSpc>
                <a:spcPct val="165000"/>
              </a:lnSpc>
              <a:spcAft>
                <a:spcPts val="0"/>
              </a:spcAft>
            </a:pPr>
            <a:r>
              <a:rPr sz="900" b="0" i="0">
                <a:solidFill>
                  <a:srgbClr val="C9C2B4"/>
                </a:solidFill>
                <a:latin typeface="Noto Sans CJK SC"/>
                <a:ea typeface="Noto Sans CJK SC"/>
              </a:rPr>
              <a:t>澎湃新闻 / 光明网 · 创作原则与影像分析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4069080"/>
            <a:ext cx="10561320" cy="10972"/>
          </a:xfrm>
          <a:prstGeom prst="rect">
            <a:avLst/>
          </a:prstGeom>
          <a:solidFill>
            <a:srgbClr val="322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224528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 i="0" spc="60">
                <a:solidFill>
                  <a:srgbClr val="C8A264"/>
                </a:solidFill>
                <a:latin typeface="Noto Sans CJK SC"/>
                <a:ea typeface="Noto Sans CJK SC"/>
              </a:rPr>
              <a:t>视频素材（B 站，第三方上传，版权归片方）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526280"/>
            <a:ext cx="53949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900" b="0" i="0">
                <a:solidFill>
                  <a:srgbClr val="C9C2B4"/>
                </a:solidFill>
                <a:latin typeface="Noto Sans CJK SC"/>
                <a:ea typeface="Noto Sans CJK SC"/>
              </a:rPr>
              <a:t>首支预告：BV1t2K1zgEgi</a:t>
            </a:r>
          </a:p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900" b="0" i="0">
                <a:solidFill>
                  <a:srgbClr val="C9C2B4"/>
                </a:solidFill>
                <a:latin typeface="Noto Sans CJK SC"/>
                <a:ea typeface="Noto Sans CJK SC"/>
              </a:rPr>
              <a:t>制作特辑：BV1aegizwEjD</a:t>
            </a:r>
          </a:p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900" b="0" i="0">
                <a:solidFill>
                  <a:srgbClr val="C9C2B4"/>
                </a:solidFill>
                <a:latin typeface="Noto Sans CJK SC"/>
                <a:ea typeface="Noto Sans CJK SC"/>
              </a:rPr>
              <a:t>群像预告：BV1roGTz6Eic</a:t>
            </a:r>
          </a:p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900" b="0" i="0">
                <a:solidFill>
                  <a:srgbClr val="C9C2B4"/>
                </a:solidFill>
                <a:latin typeface="Noto Sans CJK SC"/>
                <a:ea typeface="Noto Sans CJK SC"/>
              </a:rPr>
              <a:t>正片片段（背景布）：BV147h7zXErx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4224528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 i="0" spc="60">
                <a:solidFill>
                  <a:srgbClr val="C8A264"/>
                </a:solidFill>
                <a:latin typeface="Noto Sans CJK SC"/>
                <a:ea typeface="Noto Sans CJK SC"/>
              </a:rPr>
              <a:t>图片来源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382512"/>
            <a:ext cx="6400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50" b="0" i="0" spc="60">
                <a:solidFill>
                  <a:srgbClr val="9C958A"/>
                </a:solidFill>
                <a:latin typeface="Noto Sans CJK SC"/>
                <a:ea typeface="Noto Sans CJK SC"/>
              </a:rPr>
              <a:t>附录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21240" y="6382512"/>
            <a:ext cx="149047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850" b="0" i="0" spc="40">
                <a:solidFill>
                  <a:srgbClr val="9C958A"/>
                </a:solidFill>
                <a:latin typeface="Noto Sans CJK SC"/>
                <a:ea typeface="Noto Sans CJK SC"/>
              </a:rPr>
              <a:t>26 / 27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4526280"/>
            <a:ext cx="48463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80000"/>
              </a:lnSpc>
            </a:pPr>
            <a:r>
              <a:rPr sz="900">
                <a:solidFill>
                  <a:srgbClr val="9C958A"/>
                </a:solidFill>
                <a:latin typeface="Noto Sans CJK SC"/>
                <a:ea typeface="Noto Sans CJK SC"/>
              </a:rPr>
              <a:t>海报与剧照均来自影片公开物料，版权归片方；</a:t>
            </a:r>
          </a:p>
          <a:p>
            <a:pPr algn="l">
              <a:lnSpc>
                <a:spcPct val="180000"/>
              </a:lnSpc>
            </a:pPr>
            <a:r>
              <a:rPr sz="900">
                <a:solidFill>
                  <a:srgbClr val="9C958A"/>
                </a:solidFill>
                <a:latin typeface="Noto Sans CJK SC"/>
                <a:ea typeface="Noto Sans CJK SC"/>
              </a:rPr>
              <a:t>仅用于课堂分析，请勿二次传播。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B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3" name="TextBox 52"/>
          <p:cNvSpPr txBox="1"/>
          <p:nvPr/>
        </p:nvSpPr>
        <p:spPr>
          <a:xfrm>
            <a:off x="9921240" y="6382512"/>
            <a:ext cx="149047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850" b="0" i="0" spc="40">
                <a:solidFill>
                  <a:srgbClr val="9C958A"/>
                </a:solidFill>
                <a:latin typeface="Noto Sans CJK SC"/>
                <a:ea typeface="Noto Sans CJK SC"/>
              </a:rPr>
              <a:t>27 / 27</a:t>
            </a:r>
          </a:p>
        </p:txBody>
      </p:sp>
      <p:pic>
        <p:nvPicPr>
          <p:cNvPr id="54" name="Picture 53" descr="image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5" name="Rectangle 5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B09">
              <a:alpha val="6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0" y="0"/>
            <a:ext cx="6583680" cy="6858000"/>
          </a:xfrm>
          <a:prstGeom prst="rect">
            <a:avLst/>
          </a:prstGeom>
          <a:solidFill>
            <a:srgbClr val="0C0B09">
              <a:alpha val="8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64592" y="164592"/>
            <a:ext cx="237744" cy="118872"/>
          </a:xfrm>
          <a:prstGeom prst="rect">
            <a:avLst/>
          </a:prstGeom>
          <a:solidFill>
            <a:srgbClr val="C8A26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64592" y="6574536"/>
            <a:ext cx="237744" cy="118872"/>
          </a:xfrm>
          <a:prstGeom prst="rect">
            <a:avLst/>
          </a:prstGeom>
          <a:solidFill>
            <a:srgbClr val="C8A26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94944" y="164592"/>
            <a:ext cx="237744" cy="118872"/>
          </a:xfrm>
          <a:prstGeom prst="rect">
            <a:avLst/>
          </a:prstGeom>
          <a:solidFill>
            <a:srgbClr val="C8A26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94944" y="6574536"/>
            <a:ext cx="237744" cy="118872"/>
          </a:xfrm>
          <a:prstGeom prst="rect">
            <a:avLst/>
          </a:prstGeom>
          <a:solidFill>
            <a:srgbClr val="C8A26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225295" y="164592"/>
            <a:ext cx="237744" cy="118872"/>
          </a:xfrm>
          <a:prstGeom prst="rect">
            <a:avLst/>
          </a:prstGeom>
          <a:solidFill>
            <a:srgbClr val="C8A26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225295" y="6574536"/>
            <a:ext cx="237744" cy="118872"/>
          </a:xfrm>
          <a:prstGeom prst="rect">
            <a:avLst/>
          </a:prstGeom>
          <a:solidFill>
            <a:srgbClr val="C8A26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755647" y="164592"/>
            <a:ext cx="237744" cy="118872"/>
          </a:xfrm>
          <a:prstGeom prst="rect">
            <a:avLst/>
          </a:prstGeom>
          <a:solidFill>
            <a:srgbClr val="C8A26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755647" y="6574536"/>
            <a:ext cx="237744" cy="118872"/>
          </a:xfrm>
          <a:prstGeom prst="rect">
            <a:avLst/>
          </a:prstGeom>
          <a:solidFill>
            <a:srgbClr val="C8A26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2286000" y="164592"/>
            <a:ext cx="237744" cy="118872"/>
          </a:xfrm>
          <a:prstGeom prst="rect">
            <a:avLst/>
          </a:prstGeom>
          <a:solidFill>
            <a:srgbClr val="C8A26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2286000" y="6574536"/>
            <a:ext cx="237744" cy="118872"/>
          </a:xfrm>
          <a:prstGeom prst="rect">
            <a:avLst/>
          </a:prstGeom>
          <a:solidFill>
            <a:srgbClr val="C8A26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2816352" y="164592"/>
            <a:ext cx="237744" cy="118872"/>
          </a:xfrm>
          <a:prstGeom prst="rect">
            <a:avLst/>
          </a:prstGeom>
          <a:solidFill>
            <a:srgbClr val="C8A26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2816352" y="6574536"/>
            <a:ext cx="237744" cy="118872"/>
          </a:xfrm>
          <a:prstGeom prst="rect">
            <a:avLst/>
          </a:prstGeom>
          <a:solidFill>
            <a:srgbClr val="C8A26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3346703" y="164592"/>
            <a:ext cx="237744" cy="118872"/>
          </a:xfrm>
          <a:prstGeom prst="rect">
            <a:avLst/>
          </a:prstGeom>
          <a:solidFill>
            <a:srgbClr val="C8A26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3346703" y="6574536"/>
            <a:ext cx="237744" cy="118872"/>
          </a:xfrm>
          <a:prstGeom prst="rect">
            <a:avLst/>
          </a:prstGeom>
          <a:solidFill>
            <a:srgbClr val="C8A26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3877055" y="164592"/>
            <a:ext cx="237744" cy="118872"/>
          </a:xfrm>
          <a:prstGeom prst="rect">
            <a:avLst/>
          </a:prstGeom>
          <a:solidFill>
            <a:srgbClr val="C8A26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3877055" y="6574536"/>
            <a:ext cx="237744" cy="118872"/>
          </a:xfrm>
          <a:prstGeom prst="rect">
            <a:avLst/>
          </a:prstGeom>
          <a:solidFill>
            <a:srgbClr val="C8A26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4407407" y="164592"/>
            <a:ext cx="237744" cy="118872"/>
          </a:xfrm>
          <a:prstGeom prst="rect">
            <a:avLst/>
          </a:prstGeom>
          <a:solidFill>
            <a:srgbClr val="C8A26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4407407" y="6574536"/>
            <a:ext cx="237744" cy="118872"/>
          </a:xfrm>
          <a:prstGeom prst="rect">
            <a:avLst/>
          </a:prstGeom>
          <a:solidFill>
            <a:srgbClr val="C8A26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4937759" y="164592"/>
            <a:ext cx="237744" cy="118872"/>
          </a:xfrm>
          <a:prstGeom prst="rect">
            <a:avLst/>
          </a:prstGeom>
          <a:solidFill>
            <a:srgbClr val="C8A26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4937759" y="6574536"/>
            <a:ext cx="237744" cy="118872"/>
          </a:xfrm>
          <a:prstGeom prst="rect">
            <a:avLst/>
          </a:prstGeom>
          <a:solidFill>
            <a:srgbClr val="C8A26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5468112" y="164592"/>
            <a:ext cx="237744" cy="118872"/>
          </a:xfrm>
          <a:prstGeom prst="rect">
            <a:avLst/>
          </a:prstGeom>
          <a:solidFill>
            <a:srgbClr val="C8A26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5468112" y="6574536"/>
            <a:ext cx="237744" cy="118872"/>
          </a:xfrm>
          <a:prstGeom prst="rect">
            <a:avLst/>
          </a:prstGeom>
          <a:solidFill>
            <a:srgbClr val="C8A26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5998464" y="164592"/>
            <a:ext cx="237744" cy="118872"/>
          </a:xfrm>
          <a:prstGeom prst="rect">
            <a:avLst/>
          </a:prstGeom>
          <a:solidFill>
            <a:srgbClr val="C8A26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5998464" y="6574536"/>
            <a:ext cx="237744" cy="118872"/>
          </a:xfrm>
          <a:prstGeom prst="rect">
            <a:avLst/>
          </a:prstGeom>
          <a:solidFill>
            <a:srgbClr val="C8A26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528815" y="164592"/>
            <a:ext cx="237744" cy="118872"/>
          </a:xfrm>
          <a:prstGeom prst="rect">
            <a:avLst/>
          </a:prstGeom>
          <a:solidFill>
            <a:srgbClr val="C8A26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528815" y="6574536"/>
            <a:ext cx="237744" cy="118872"/>
          </a:xfrm>
          <a:prstGeom prst="rect">
            <a:avLst/>
          </a:prstGeom>
          <a:solidFill>
            <a:srgbClr val="C8A26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059167" y="164592"/>
            <a:ext cx="237744" cy="118872"/>
          </a:xfrm>
          <a:prstGeom prst="rect">
            <a:avLst/>
          </a:prstGeom>
          <a:solidFill>
            <a:srgbClr val="C8A26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059167" y="6574536"/>
            <a:ext cx="237744" cy="118872"/>
          </a:xfrm>
          <a:prstGeom prst="rect">
            <a:avLst/>
          </a:prstGeom>
          <a:solidFill>
            <a:srgbClr val="C8A26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589519" y="164592"/>
            <a:ext cx="237744" cy="118872"/>
          </a:xfrm>
          <a:prstGeom prst="rect">
            <a:avLst/>
          </a:prstGeom>
          <a:solidFill>
            <a:srgbClr val="C8A26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589519" y="6574536"/>
            <a:ext cx="237744" cy="118872"/>
          </a:xfrm>
          <a:prstGeom prst="rect">
            <a:avLst/>
          </a:prstGeom>
          <a:solidFill>
            <a:srgbClr val="C8A26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8119871" y="164592"/>
            <a:ext cx="237744" cy="118872"/>
          </a:xfrm>
          <a:prstGeom prst="rect">
            <a:avLst/>
          </a:prstGeom>
          <a:solidFill>
            <a:srgbClr val="C8A26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119871" y="6574536"/>
            <a:ext cx="237744" cy="118872"/>
          </a:xfrm>
          <a:prstGeom prst="rect">
            <a:avLst/>
          </a:prstGeom>
          <a:solidFill>
            <a:srgbClr val="C8A26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650224" y="164592"/>
            <a:ext cx="237744" cy="118872"/>
          </a:xfrm>
          <a:prstGeom prst="rect">
            <a:avLst/>
          </a:prstGeom>
          <a:solidFill>
            <a:srgbClr val="C8A26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650224" y="6574536"/>
            <a:ext cx="237744" cy="118872"/>
          </a:xfrm>
          <a:prstGeom prst="rect">
            <a:avLst/>
          </a:prstGeom>
          <a:solidFill>
            <a:srgbClr val="C8A26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9180576" y="164592"/>
            <a:ext cx="237744" cy="118872"/>
          </a:xfrm>
          <a:prstGeom prst="rect">
            <a:avLst/>
          </a:prstGeom>
          <a:solidFill>
            <a:srgbClr val="C8A26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9180576" y="6574536"/>
            <a:ext cx="237744" cy="118872"/>
          </a:xfrm>
          <a:prstGeom prst="rect">
            <a:avLst/>
          </a:prstGeom>
          <a:solidFill>
            <a:srgbClr val="C8A26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9710928" y="164592"/>
            <a:ext cx="237744" cy="118872"/>
          </a:xfrm>
          <a:prstGeom prst="rect">
            <a:avLst/>
          </a:prstGeom>
          <a:solidFill>
            <a:srgbClr val="C8A26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9710928" y="6574536"/>
            <a:ext cx="237744" cy="118872"/>
          </a:xfrm>
          <a:prstGeom prst="rect">
            <a:avLst/>
          </a:prstGeom>
          <a:solidFill>
            <a:srgbClr val="C8A26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0241280" y="164592"/>
            <a:ext cx="237744" cy="118872"/>
          </a:xfrm>
          <a:prstGeom prst="rect">
            <a:avLst/>
          </a:prstGeom>
          <a:solidFill>
            <a:srgbClr val="C8A26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0241280" y="6574536"/>
            <a:ext cx="237744" cy="118872"/>
          </a:xfrm>
          <a:prstGeom prst="rect">
            <a:avLst/>
          </a:prstGeom>
          <a:solidFill>
            <a:srgbClr val="C8A26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10771632" y="164592"/>
            <a:ext cx="237744" cy="118872"/>
          </a:xfrm>
          <a:prstGeom prst="rect">
            <a:avLst/>
          </a:prstGeom>
          <a:solidFill>
            <a:srgbClr val="C8A26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10771632" y="6574536"/>
            <a:ext cx="237744" cy="118872"/>
          </a:xfrm>
          <a:prstGeom prst="rect">
            <a:avLst/>
          </a:prstGeom>
          <a:solidFill>
            <a:srgbClr val="C8A26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11301984" y="164592"/>
            <a:ext cx="237744" cy="118872"/>
          </a:xfrm>
          <a:prstGeom prst="rect">
            <a:avLst/>
          </a:prstGeom>
          <a:solidFill>
            <a:srgbClr val="C8A26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11301984" y="6574536"/>
            <a:ext cx="237744" cy="118872"/>
          </a:xfrm>
          <a:prstGeom prst="rect">
            <a:avLst/>
          </a:prstGeom>
          <a:solidFill>
            <a:srgbClr val="C8A26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11832336" y="164592"/>
            <a:ext cx="237744" cy="118872"/>
          </a:xfrm>
          <a:prstGeom prst="rect">
            <a:avLst/>
          </a:prstGeom>
          <a:solidFill>
            <a:srgbClr val="C8A26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1832336" y="6574536"/>
            <a:ext cx="237744" cy="118872"/>
          </a:xfrm>
          <a:prstGeom prst="rect">
            <a:avLst/>
          </a:prstGeom>
          <a:solidFill>
            <a:srgbClr val="C8A26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77240" y="2487168"/>
            <a:ext cx="73152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5800" b="0">
                <a:solidFill>
                  <a:srgbClr val="EEE8DC"/>
                </a:solidFill>
                <a:latin typeface="Noto Serif CJK SC"/>
                <a:ea typeface="Noto Serif CJK SC"/>
              </a:rPr>
              <a:t>谢谢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804672" y="3401568"/>
            <a:ext cx="1051560" cy="27432"/>
          </a:xfrm>
          <a:prstGeom prst="rect">
            <a:avLst/>
          </a:prstGeom>
          <a:solidFill>
            <a:srgbClr val="C8A2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77240" y="3639312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C9C2B4"/>
                </a:solidFill>
                <a:latin typeface="Noto Sans CJK SC"/>
                <a:ea typeface="Noto Sans CJK SC"/>
              </a:rPr>
              <a:t>欢迎提问、补充与不同意见。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77240" y="41605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9C958A"/>
                </a:solidFill>
                <a:latin typeface="Noto Sans CJK SC"/>
                <a:ea typeface="Noto Sans CJK SC"/>
              </a:rPr>
              <a:t>建议完整观看全片后再讨论——它值得那 137 分钟。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903720" y="6382512"/>
            <a:ext cx="2377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>
                <a:solidFill>
                  <a:srgbClr val="9C958A"/>
                </a:solidFill>
                <a:latin typeface="Noto Sans CJK SC"/>
                <a:ea typeface="Noto Sans CJK SC"/>
              </a:rPr>
              <a:t>剧照 ｜ 版权归片方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9921240" y="6382512"/>
            <a:ext cx="149047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spc="40">
                <a:solidFill>
                  <a:srgbClr val="D9C9B4"/>
                </a:solidFill>
                <a:latin typeface="Noto Sans CJK SC"/>
                <a:ea typeface="Noto Sans CJK SC"/>
              </a:rPr>
              <a:t>27 / 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